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  <p:sldMasterId id="2147483658" r:id="rId2"/>
  </p:sldMasterIdLst>
  <p:notesMasterIdLst>
    <p:notesMasterId r:id="rId1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</p:sldIdLst>
  <p:sldSz cx="9144000" cy="5143500" type="screen16x9"/>
  <p:notesSz cx="9925050" cy="6665913"/>
  <p:embeddedFontLst>
    <p:embeddedFont>
      <p:font typeface="Roboto" panose="02000000000000000000" pitchFamily="2" charset="0"/>
      <p:regular r:id="rId124"/>
      <p:bold r:id="rId125"/>
      <p:italic r:id="rId126"/>
      <p:boldItalic r:id="rId127"/>
    </p:embeddedFont>
    <p:embeddedFont>
      <p:font typeface="Roboto Mono" panose="00000009000000000000" pitchFamily="49" charset="0"/>
      <p:regular r:id="rId128"/>
      <p:bold r:id="rId129"/>
      <p:italic r:id="rId130"/>
      <p:boldItalic r:id="rId131"/>
    </p:embeddedFont>
    <p:embeddedFont>
      <p:font typeface="Roboto Mono Medium" panose="00000009000000000000" pitchFamily="49" charset="0"/>
      <p:regular r:id="rId132"/>
      <p:bold r:id="rId133"/>
      <p:italic r:id="rId134"/>
      <p:boldItalic r:id="rId135"/>
    </p:embeddedFont>
    <p:embeddedFont>
      <p:font typeface="Roboto Mono SemiBold" panose="020B0604020202020204" charset="0"/>
      <p:regular r:id="rId136"/>
      <p:bold r:id="rId137"/>
      <p:italic r:id="rId138"/>
      <p:boldItalic r:id="rId139"/>
    </p:embeddedFont>
    <p:embeddedFont>
      <p:font typeface="Roboto SemiBold" panose="020B0604020202020204" charset="0"/>
      <p:regular r:id="rId140"/>
      <p:bold r:id="rId141"/>
      <p:italic r:id="rId142"/>
      <p:boldItalic r:id="rId1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58E22B-9A1C-46A9-80C1-C3506737D24A}">
  <a:tblStyle styleId="{6D58E22B-9A1C-46A9-80C1-C3506737D2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2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font" Target="fonts/font15.fntdata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font" Target="fonts/font5.fntdata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font" Target="fonts/font11.fntdata"/><Relationship Id="rId139" Type="http://schemas.openxmlformats.org/officeDocument/2006/relationships/font" Target="fonts/font16.fntdata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font" Target="fonts/font1.fntdata"/><Relationship Id="rId129" Type="http://schemas.openxmlformats.org/officeDocument/2006/relationships/font" Target="fonts/font6.fntdata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font" Target="fonts/font17.fntdata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font" Target="fonts/font7.fntdata"/><Relationship Id="rId135" Type="http://schemas.openxmlformats.org/officeDocument/2006/relationships/font" Target="fonts/font12.fntdata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font" Target="fonts/font2.fntdata"/><Relationship Id="rId141" Type="http://schemas.openxmlformats.org/officeDocument/2006/relationships/font" Target="fonts/font18.fntdata"/><Relationship Id="rId14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font" Target="fonts/font8.fntdata"/><Relationship Id="rId136" Type="http://schemas.openxmlformats.org/officeDocument/2006/relationships/font" Target="fonts/font13.fnt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font" Target="fonts/font3.fntdata"/><Relationship Id="rId14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font" Target="fonts/font19.fntdata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font" Target="fonts/font14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font" Target="fonts/font9.fntdata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font" Target="fonts/font4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font" Target="fonts/font2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font" Target="fonts/font10.fntdata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notesMaster" Target="notesMasters/notesMaster1.xml"/><Relationship Id="rId14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1901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 txBox="1">
            <a:spLocks noGrp="1"/>
          </p:cNvSpPr>
          <p:nvPr>
            <p:ph type="sldNum" idx="12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dd3a3d506_1_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bdd3a3d5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68d5524bf_0_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868d5524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21144a454_0_1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c21144a45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21144a454_0_2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c21144a45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21144a454_0_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c21144a4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dd3a3d506_1_8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bdd3a3d506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dd3a3d506_1_7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bdd3a3d506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dd3a3d506_1_8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bdd3a3d506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dd3a3d506_1_9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bdd3a3d506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dd3a3d506_1_10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bdd3a3d506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dd3a3d506_1_11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bdd3a3d506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dd3a3d506_1_29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bdd3a3d506_1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dd3a3d506_1_30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bdd3a3d506_1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dd3a3d506_1_31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bdd3a3d506_1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dd3a3d506_1_32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bdd3a3d506_1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dd3a3d506_1_33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bdd3a3d506_1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dd3a3d506_1_12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bdd3a3d506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dd3a3d506_1_13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bdd3a3d506_1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dd3a3d506_1_14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bdd3a3d506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dd3a3d506_1_15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bdd3a3d506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dd3a3d506_1_16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bdd3a3d506_1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dd3a3d506_1_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bdd3a3d50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21144a454_0_4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c21144a45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c94dffa3f_0_3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bc94dffa3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bc94dffa3f_0_4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3bc94dffa3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dd3a3d506_1_1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bdd3a3d506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c94dffa3f_0_4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bc94dffa3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c94dffa3f_0_6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3bc94dffa3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c94dffa3f_0_5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bc94dffa3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dd3a3d506_1_2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3bdd3a3d506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dd3a3d506_1_28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g3bdd3a3d506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21144a454_0_13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3c21144a454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21144a454_0_14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3c21144a454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dd3a3d506_1_27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bdd3a3d506_1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dd3a3d506_1_33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bdd3a3d506_1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bdd3a3d506_1_35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bdd3a3d506_1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dd3a3d506_1_21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3bdd3a3d506_1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dd3a3d506_1_36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3bdd3a3d506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dd3a3d506_1_37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g3bdd3a3d506_1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bdd3a3d506_1_38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3bdd3a3d506_1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bdd3a3d506_1_39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3bdd3a3d506_1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bdd3a3d506_1_40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3bdd3a3d506_1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dd3a3d506_1_41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g3bdd3a3d506_1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dd3a3d506_1_42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g3bdd3a3d506_1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dd3a3d506_1_46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g3bdd3a3d506_1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dd3a3d506_1_47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3bdd3a3d506_1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bdd3a3d506_1_48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g3bdd3a3d506_1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bdd3a3d506_1_51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3bdd3a3d506_1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dd3a3d506_1_52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g3bdd3a3d506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bdd3a3d506_1_53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g3bdd3a3d506_1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bdd3a3d506_1_54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g3bdd3a3d506_1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dd3a3d506_1_56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g3bdd3a3d506_1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bdd3a3d506_1_57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3bdd3a3d506_1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c21144a454_0_7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g3c21144a45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bdd3a3d506_1_58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g3bdd3a3d506_1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bdd3a3d506_1_61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g3bdd3a3d506_1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bdd3a3d506_1_62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g3bdd3a3d506_1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bdd3a3d506_1_63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g3bdd3a3d506_1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bdd3a3d506_1_64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g3bdd3a3d506_1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bdd3a3d506_1_65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g3bdd3a3d506_1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bdd3a3d506_1_69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g3bdd3a3d506_1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c21144a454_0_9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g3c21144a454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c21144a454_0_10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g3c21144a45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bdd3a3d506_1_23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g3bdd3a3d506_1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bdd3a3d506_1_85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g3bdd3a3d506_1_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bdd3a3d506_1_86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g3bdd3a3d506_1_8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bdd3a3d506_1_87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g3bdd3a3d506_1_8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bdd3a3d506_1_88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g3bdd3a3d506_1_8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bdd3a3d506_1_24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g3bdd3a3d506_1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bdd3a3d506_1_88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g3bdd3a3d506_1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bdd3a3d506_1_90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g3bdd3a3d506_1_9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21144a454_0_6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g3c21144a45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bdd3a3d506_1_92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g3bdd3a3d506_1_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bdd3a3d506_1_24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g3bdd3a3d506_1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bdd3a3d506_1_95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g3bdd3a3d506_1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bdd3a3d506_1_96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g3bdd3a3d506_1_9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bdd3a3d506_1_97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g3bdd3a3d506_1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bdd3a3d506_1_98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g3bdd3a3d506_1_9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bdd3a3d506_1_99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g3bdd3a3d506_1_9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bdd3a3d506_1_100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g3bdd3a3d506_1_1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bdd3a3d506_1_101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g3bdd3a3d506_1_1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bdd3a3d506_1_103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g3bdd3a3d506_1_1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bdd3a3d506_1_104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g3bdd3a3d506_1_10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bdd3a3d506_1_105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g3bdd3a3d506_1_10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bdd3a3d506_1_106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g3bdd3a3d506_1_1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bdd3a3d506_1_111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g3bdd3a3d506_1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bdd3a3d506_1_112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g3bdd3a3d506_1_1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bdd3a3d506_1_113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g3bdd3a3d506_1_1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bdd3a3d506_1_114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g3bdd3a3d506_1_1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bdd3a3d506_1_116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g3bdd3a3d506_1_1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bdd3a3d506_1_117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g3bdd3a3d506_1_1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bdd3a3d506_1_118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g3bdd3a3d506_1_1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bdd3a3d506_1_119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g3bdd3a3d506_1_1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bdd3a3d506_1_120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g3bdd3a3d506_1_1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bdd3a3d506_1_122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g3bdd3a3d506_1_1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bdd3a3d506_1_123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g3bdd3a3d506_1_1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bdd3a3d506_1_124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g3bdd3a3d506_1_1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bdd3a3d506_1_125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g3bdd3a3d506_1_1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bdd3a3d506_1_126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g3bdd3a3d506_1_1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bdd3a3d506_1_92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1178;g3bdd3a3d506_1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c21144a454_0_5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g3c21144a45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bc94dffa3f_0_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g3bc94dffa3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bc94dffa3f_0_1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g3bc94dffa3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3bc94dffa3f_0_2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g3bc94dffa3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c65488bb58_0_1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7.3%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dp encode 3.9%</a:t>
            </a:r>
            <a:br>
              <a:rPr lang="de-DE"/>
            </a:br>
            <a:r>
              <a:rPr lang="de-DE"/>
              <a:t>table const 3.1% 2.5%</a:t>
            </a:r>
            <a:endParaRPr/>
          </a:p>
        </p:txBody>
      </p:sp>
      <p:sp>
        <p:nvSpPr>
          <p:cNvPr id="1223" name="Google Shape;1223;g3c65488bb5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bdd3a3d506_1_132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78.3%</a:t>
            </a:r>
            <a:br>
              <a:rPr lang="de-DE"/>
            </a:br>
            <a:r>
              <a:rPr lang="de-DE"/>
              <a:t>dp encode 63%</a:t>
            </a:r>
            <a:br>
              <a:rPr lang="de-DE"/>
            </a:br>
            <a:r>
              <a:rPr lang="de-DE"/>
              <a:t>constrcution : 30.8%</a:t>
            </a:r>
            <a:br>
              <a:rPr lang="de-DE"/>
            </a:br>
            <a:endParaRPr/>
          </a:p>
        </p:txBody>
      </p:sp>
      <p:sp>
        <p:nvSpPr>
          <p:cNvPr id="1234" name="Google Shape;1234;g3bdd3a3d506_1_1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c65488bb58_0_3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15.4%</a:t>
            </a:r>
            <a:endParaRPr/>
          </a:p>
        </p:txBody>
      </p:sp>
      <p:sp>
        <p:nvSpPr>
          <p:cNvPr id="1245" name="Google Shape;1245;g3c65488bb5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c65488bb58_0_4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1.1%</a:t>
            </a:r>
            <a:endParaRPr/>
          </a:p>
        </p:txBody>
      </p:sp>
      <p:sp>
        <p:nvSpPr>
          <p:cNvPr id="1258" name="Google Shape;1258;g3c65488bb5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bdd3a3d506_1_135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g3bdd3a3d506_1_1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bdd3a3d506_1_136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g3bdd3a3d506_1_1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bdd3a3d506_1_137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g3bdd3a3d506_1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bdd3a3d506_1_138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7" name="Google Shape;1297;g3bdd3a3d506_1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bdd3a3d506_1_134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g3bdd3a3d506_1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bdd3a3d506_1_138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g3bdd3a3d506_1_1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3bdd3a3d506_1_139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g3bdd3a3d506_1_1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bdd3a3d506_1_140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g3bdd3a3d506_1_1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3bdd3a3d506_1_4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g3bdd3a3d506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3bdd3a3d506_1_3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g3bdd3a3d506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100" cy="250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rt">
  <p:cSld name="Star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">
  <p:cSld name="Inhal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99" cy="309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 + Text">
  <p:cSld name="Zwei Inhalte +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316992" y="2148752"/>
            <a:ext cx="4188333" cy="2547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3"/>
          </p:nvPr>
        </p:nvSpPr>
        <p:spPr>
          <a:xfrm>
            <a:off x="4648200" y="2148840"/>
            <a:ext cx="4180392" cy="254691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319091" y="1602000"/>
            <a:ext cx="4180910" cy="3095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647179" y="1602000"/>
            <a:ext cx="4180910" cy="3095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+ Text">
  <p:cSld name="Inhalt + 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ße Bilder">
  <p:cSld name="große Bil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>
            <a:spLocks noGrp="1"/>
          </p:cNvSpPr>
          <p:nvPr>
            <p:ph type="pic" idx="2"/>
          </p:nvPr>
        </p:nvSpPr>
        <p:spPr>
          <a:xfrm>
            <a:off x="0" y="2133600"/>
            <a:ext cx="9144000" cy="30099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er formatfüllend">
  <p:cSld name="Bilder formatfüllend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>
            <a:spLocks noGrp="1"/>
          </p:cNvSpPr>
          <p:nvPr>
            <p:ph type="pic" idx="2"/>
          </p:nvPr>
        </p:nvSpPr>
        <p:spPr>
          <a:xfrm>
            <a:off x="0" y="1600200"/>
            <a:ext cx="9144000" cy="3543299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 + Text (Hintergrund)">
  <p:cSld name="Zwei Inhalte + Text (Hintergrund)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0" y="2152650"/>
            <a:ext cx="9144000" cy="29908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316992" y="2152650"/>
            <a:ext cx="4197858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>
            <a:spLocks noGrp="1"/>
          </p:cNvSpPr>
          <p:nvPr>
            <p:ph type="body" idx="3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rt">
  <p:cSld name="Star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12" name="Google Shape;12;p1" descr="20150416 tum logo blau png fin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18800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 descr="20150416 tum logo blau png final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18411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2" descr="TUM_Glockenturm.t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5215" y="1476375"/>
            <a:ext cx="38195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319161" y="728775"/>
            <a:ext cx="85089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Improved Symbol Table Construction for FSST Compression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412138" y="1616240"/>
            <a:ext cx="8508900" cy="9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Technische Universität München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TUM School of Computation, Information and Technology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Chair of Data Science and Engineering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Examiner:     Prof. Dr. Thomas Neumann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Supervisors: Prof. Dr. Andreas Kipf, Mihail Stoian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Munich, 10th February 2026</a:t>
            </a:r>
            <a:endParaRPr/>
          </a:p>
        </p:txBody>
      </p:sp>
      <p:pic>
        <p:nvPicPr>
          <p:cNvPr id="80" name="Google Shape;8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Motivation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</a:t>
            </a:fld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7087" y="1411525"/>
            <a:ext cx="2410775" cy="9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title="fastlan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3150" y="3567275"/>
            <a:ext cx="3032673" cy="98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title="Screenshot 2026-02-04 at 10.11.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9425" y="2819588"/>
            <a:ext cx="2859301" cy="157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title="lanc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900" y="2544663"/>
            <a:ext cx="3306655" cy="9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f3-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18575" y="1301030"/>
            <a:ext cx="1649550" cy="1173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DE" sz="1800"/>
              <a:t>FSST uses a greedy algorithm </a:t>
            </a:r>
            <a:br>
              <a:rPr lang="de-DE" sz="1800"/>
            </a:br>
            <a:endParaRPr sz="1800"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Motivation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DE" sz="1800"/>
              <a:t>FSST uses a greedy algorithm </a:t>
            </a:r>
            <a:br>
              <a:rPr lang="de-DE" sz="1800"/>
            </a:br>
            <a:r>
              <a:rPr lang="de-DE" sz="1800"/>
              <a:t>⇒ We introduce a better approach: BtrFSST</a:t>
            </a:r>
            <a:br>
              <a:rPr lang="de-DE" sz="1800"/>
            </a:b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Motivation</a:t>
            </a: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DE" sz="1800"/>
              <a:t>FSST uses a greedy algorithm </a:t>
            </a:r>
            <a:br>
              <a:rPr lang="de-DE" sz="1800"/>
            </a:br>
            <a:r>
              <a:rPr lang="de-DE" sz="1800"/>
              <a:t>⇒ We introduce a better approach: BtrFSST</a:t>
            </a:r>
            <a:br>
              <a:rPr lang="de-DE" sz="1800"/>
            </a:b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DE" sz="1800"/>
              <a:t>Compression factor improved by up to 47.7%</a:t>
            </a:r>
            <a:endParaRPr sz="1800"/>
          </a:p>
        </p:txBody>
      </p:sp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Motivation</a:t>
            </a:r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311140" y="21057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Fast Static Symbol Table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Contributions 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Benchmarks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Conclusion</a:t>
            </a:r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Contents</a:t>
            </a: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Why?</a:t>
            </a:r>
            <a:r>
              <a:rPr lang="de-DE"/>
              <a:t> </a:t>
            </a:r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Why?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String data dominating (van Renen [VLDB’24])</a:t>
            </a:r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</a:t>
            </a:fld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Why?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String data dominating (van Renen [VLDB’24])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Random access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</a:t>
            </a:fld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Why?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String data dominating (van Renen [VLDB’24]) 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Random access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Fast decompression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</a:t>
            </a:fld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Why?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String data dominating (van Renen [VLDB’24]) 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Random access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Fast decompression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Queries on compressed strings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</a:t>
            </a:fld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How?</a:t>
            </a:r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12</a:t>
            </a:fld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83" name="Google Shape;1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How?</a:t>
            </a:r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13</a:t>
            </a:fld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 title="fsst_examp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6204" y="1762025"/>
            <a:ext cx="4091600" cy="27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Escaping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14</a:t>
            </a:fld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02" name="Google Shape;2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Escaping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Codes mapping to symbols: 0 - 254 </a:t>
            </a:r>
            <a:br>
              <a:rPr lang="de-DE"/>
            </a:b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15</a:t>
            </a:fld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Escaping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Codes mapping to symbols: 0 - 254 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Code 255: Escape code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16</a:t>
            </a:fld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Escaping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Codes mapping to symbols: 0 - 254 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Code 255: Escape code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Compression: No symbol matching current prefix ⇒ Place escape code followed by raw byte</a:t>
            </a: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17</a:t>
            </a:fld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Escaping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Codes mapping to symbols: 0 - 254 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Code 255: Escape code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Compression: No symbol matching current prefix ⇒ Place escape code followed by raw byte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Decompression: Escape code encountered ⇒ Place next byte as is and advance by 2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18</a:t>
            </a:fld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38" name="Google Shape;2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Symbol Table Construction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245" name="Google Shape;245;p3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19</a:t>
            </a:fld>
            <a:endParaRPr/>
          </a:p>
        </p:txBody>
      </p:sp>
      <p:sp>
        <p:nvSpPr>
          <p:cNvPr id="246" name="Google Shape;246;p3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47" name="Google Shape;24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Symbol Table Construction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5 iterations over a sample (generations)</a:t>
            </a: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254" name="Google Shape;254;p3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20</a:t>
            </a:fld>
            <a:endParaRPr/>
          </a:p>
        </p:txBody>
      </p:sp>
      <p:sp>
        <p:nvSpPr>
          <p:cNvPr id="255" name="Google Shape;255;p3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56" name="Google Shape;2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Symbol Table Construction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5 iterations over a sample (generations)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Compress the sample and keep counts (compressCount)</a:t>
            </a: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21</a:t>
            </a:fld>
            <a:endParaRPr/>
          </a:p>
        </p:txBody>
      </p:sp>
      <p:sp>
        <p:nvSpPr>
          <p:cNvPr id="264" name="Google Shape;264;p3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65" name="Google Shape;2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Symbol Table Construction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5 iterations over a sample (generations)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Compress the sample and keep counts (compressCount)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Select symbols for the next table based on static gain (makeTable)</a:t>
            </a: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22</a:t>
            </a:fld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74" name="Google Shape;27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Symbol Table Construction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5 iterations over a sample (generations)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Compress the sample and keep counts (compressCount)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Select symbols for the next table based on static gain (makeTable)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Keep best table </a:t>
            </a: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23</a:t>
            </a:fld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83" name="Google Shape;2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Problems</a:t>
            </a:r>
            <a:endParaRPr sz="1800"/>
          </a:p>
        </p:txBody>
      </p:sp>
      <p:sp>
        <p:nvSpPr>
          <p:cNvPr id="289" name="Google Shape;289;p3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/>
              <a:t>Fast Static Symbol Table</a:t>
            </a:r>
            <a:endParaRPr/>
          </a:p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24</a:t>
            </a:fld>
            <a:endParaRPr/>
          </a:p>
        </p:txBody>
      </p:sp>
      <p:sp>
        <p:nvSpPr>
          <p:cNvPr id="291" name="Google Shape;291;p3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292" name="Google Shape;29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Problems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Greedy algorithm for table construction and full column encoding</a:t>
            </a:r>
            <a:br>
              <a:rPr lang="de-DE"/>
            </a:br>
            <a:br>
              <a:rPr lang="de-DE"/>
            </a:br>
            <a:endParaRPr/>
          </a:p>
          <a:p>
            <a:pPr marL="9144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/>
            </a:b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25</a:t>
            </a:fld>
            <a:endParaRPr/>
          </a:p>
        </p:txBody>
      </p:sp>
      <p:sp>
        <p:nvSpPr>
          <p:cNvPr id="300" name="Google Shape;300;p3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01" name="Google Shape;3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Problems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Greedy algorithm for table construction and full column encoding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Only two frequency counters</a:t>
            </a:r>
            <a:br>
              <a:rPr lang="de-DE"/>
            </a:br>
            <a:br>
              <a:rPr lang="de-DE"/>
            </a:br>
            <a:endParaRPr/>
          </a:p>
          <a:p>
            <a:pPr marL="9144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/>
            </a:b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26</a:t>
            </a:fld>
            <a:endParaRPr/>
          </a:p>
        </p:txBody>
      </p:sp>
      <p:sp>
        <p:nvSpPr>
          <p:cNvPr id="309" name="Google Shape;309;p3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10" name="Google Shape;31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Problems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Greedy algorithm for table construction and full column encoding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Only two frequency counters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Conflicting symbols selected (overlapping)</a:t>
            </a:r>
            <a:br>
              <a:rPr lang="de-DE"/>
            </a:br>
            <a:endParaRPr/>
          </a:p>
          <a:p>
            <a:pPr marL="9144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/>
            </a:b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Fast Static Symbol Table</a:t>
            </a:r>
            <a:endParaRPr/>
          </a:p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27</a:t>
            </a:fld>
            <a:endParaRPr/>
          </a:p>
        </p:txBody>
      </p:sp>
      <p:sp>
        <p:nvSpPr>
          <p:cNvPr id="318" name="Google Shape;318;p3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19" name="Google Shape;3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Solutions</a:t>
            </a:r>
            <a:br>
              <a:rPr lang="de-DE" sz="1800"/>
            </a:br>
            <a:endParaRPr/>
          </a:p>
        </p:txBody>
      </p:sp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326" name="Google Shape;326;p3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28</a:t>
            </a:fld>
            <a:endParaRPr/>
          </a:p>
        </p:txBody>
      </p:sp>
      <p:sp>
        <p:nvSpPr>
          <p:cNvPr id="327" name="Google Shape;327;p3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28" name="Google Shape;32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Solutions</a:t>
            </a:r>
            <a:br>
              <a:rPr lang="de-DE" sz="1800"/>
            </a:b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DP algorithm for table construction and full column encoding</a:t>
            </a:r>
            <a:br>
              <a:rPr lang="de-DE"/>
            </a:br>
            <a:endParaRPr/>
          </a:p>
        </p:txBody>
      </p:sp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335" name="Google Shape;335;p4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29</a:t>
            </a:fld>
            <a:endParaRPr/>
          </a:p>
        </p:txBody>
      </p:sp>
      <p:sp>
        <p:nvSpPr>
          <p:cNvPr id="336" name="Google Shape;336;p4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37" name="Google Shape;33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Solutions</a:t>
            </a:r>
            <a:br>
              <a:rPr lang="de-DE" sz="1800"/>
            </a:b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DP algorithm for table construction and full column encoding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Third frequency counter</a:t>
            </a:r>
            <a:br>
              <a:rPr lang="de-DE"/>
            </a:br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344" name="Google Shape;344;p4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30</a:t>
            </a:fld>
            <a:endParaRPr/>
          </a:p>
        </p:txBody>
      </p:sp>
      <p:sp>
        <p:nvSpPr>
          <p:cNvPr id="345" name="Google Shape;345;p4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46" name="Google Shape;3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Solutions</a:t>
            </a:r>
            <a:br>
              <a:rPr lang="de-DE" sz="1800"/>
            </a:b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DP algorithm for table construction and full column encoding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Third frequency counter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de-DE"/>
              <a:t>Symbol pruning during new table filling</a:t>
            </a:r>
            <a:endParaRPr/>
          </a:p>
        </p:txBody>
      </p:sp>
      <p:sp>
        <p:nvSpPr>
          <p:cNvPr id="352" name="Google Shape;352;p4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353" name="Google Shape;353;p4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31</a:t>
            </a:fld>
            <a:endParaRPr/>
          </a:p>
        </p:txBody>
      </p:sp>
      <p:sp>
        <p:nvSpPr>
          <p:cNvPr id="354" name="Google Shape;354;p4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55" name="Google Shape;3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DP </a:t>
            </a:r>
            <a:endParaRPr sz="1800"/>
          </a:p>
        </p:txBody>
      </p:sp>
      <p:sp>
        <p:nvSpPr>
          <p:cNvPr id="361" name="Google Shape;361;p4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362" name="Google Shape;362;p4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32</a:t>
            </a:fld>
            <a:endParaRPr/>
          </a:p>
        </p:txBody>
      </p:sp>
      <p:sp>
        <p:nvSpPr>
          <p:cNvPr id="363" name="Google Shape;363;p4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64" name="Google Shape;36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DP 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				</a:t>
            </a:r>
            <a:endParaRPr sz="1800"/>
          </a:p>
        </p:txBody>
      </p:sp>
      <p:sp>
        <p:nvSpPr>
          <p:cNvPr id="370" name="Google Shape;370;p4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33</a:t>
            </a:fld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73" name="Google Shape;3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4"/>
          <p:cNvPicPr preferRelativeResize="0"/>
          <p:nvPr/>
        </p:nvPicPr>
        <p:blipFill rotWithShape="1">
          <a:blip r:embed="rId4">
            <a:alphaModFix/>
          </a:blip>
          <a:srcRect l="20" t="16180" r="-19" b="-16180"/>
          <a:stretch/>
        </p:blipFill>
        <p:spPr>
          <a:xfrm>
            <a:off x="230275" y="2352675"/>
            <a:ext cx="882967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DP 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				</a:t>
            </a:r>
            <a:endParaRPr sz="1800"/>
          </a:p>
        </p:txBody>
      </p:sp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34</a:t>
            </a:fld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83" name="Google Shape;3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5"/>
          <p:cNvPicPr preferRelativeResize="0"/>
          <p:nvPr/>
        </p:nvPicPr>
        <p:blipFill rotWithShape="1">
          <a:blip r:embed="rId4">
            <a:alphaModFix/>
          </a:blip>
          <a:srcRect l="20" t="16180" r="-19" b="-16180"/>
          <a:stretch/>
        </p:blipFill>
        <p:spPr>
          <a:xfrm>
            <a:off x="230275" y="2352675"/>
            <a:ext cx="882967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9188" y="3000375"/>
            <a:ext cx="12287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DP 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				</a:t>
            </a:r>
            <a:endParaRPr sz="1800"/>
          </a:p>
        </p:txBody>
      </p:sp>
      <p:sp>
        <p:nvSpPr>
          <p:cNvPr id="391" name="Google Shape;391;p4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392" name="Google Shape;392;p4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35</a:t>
            </a:fld>
            <a:endParaRPr/>
          </a:p>
        </p:txBody>
      </p:sp>
      <p:sp>
        <p:nvSpPr>
          <p:cNvPr id="393" name="Google Shape;393;p4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394" name="Google Shape;39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9188" y="3000375"/>
            <a:ext cx="12287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0750" y="3614763"/>
            <a:ext cx="916483" cy="6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2050" y="3783825"/>
            <a:ext cx="3013093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6"/>
          <p:cNvPicPr preferRelativeResize="0"/>
          <p:nvPr/>
        </p:nvPicPr>
        <p:blipFill rotWithShape="1">
          <a:blip r:embed="rId7">
            <a:alphaModFix/>
          </a:blip>
          <a:srcRect l="20" t="16180" r="-19" b="-16180"/>
          <a:stretch/>
        </p:blipFill>
        <p:spPr>
          <a:xfrm>
            <a:off x="230275" y="2352675"/>
            <a:ext cx="882967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DP </a:t>
            </a:r>
            <a:endParaRPr sz="1800"/>
          </a:p>
        </p:txBody>
      </p:sp>
      <p:sp>
        <p:nvSpPr>
          <p:cNvPr id="404" name="Google Shape;404;p4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405" name="Google Shape;405;p4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36</a:t>
            </a:fld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407" name="Google Shape;40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5750" y="2021777"/>
            <a:ext cx="6272475" cy="1099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DP </a:t>
            </a: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		        Escape last </a:t>
            </a:r>
            <a:r>
              <a:rPr lang="de-DE" sz="1800" dirty="0" err="1"/>
              <a:t>byte</a:t>
            </a:r>
            <a:endParaRPr sz="1800" dirty="0"/>
          </a:p>
        </p:txBody>
      </p:sp>
      <p:sp>
        <p:nvSpPr>
          <p:cNvPr id="414" name="Google Shape;414;p4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415" name="Google Shape;415;p4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37</a:t>
            </a:fld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417" name="Google Shape;4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5750" y="2021777"/>
            <a:ext cx="6272475" cy="109994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8"/>
          <p:cNvSpPr/>
          <p:nvPr/>
        </p:nvSpPr>
        <p:spPr>
          <a:xfrm>
            <a:off x="3376850" y="3037875"/>
            <a:ext cx="333000" cy="568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DP </a:t>
            </a: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					      								        Last </a:t>
            </a:r>
            <a:r>
              <a:rPr lang="de-DE" sz="1800" dirty="0" err="1"/>
              <a:t>byte</a:t>
            </a:r>
            <a:r>
              <a:rPr lang="de-DE" sz="1800" dirty="0"/>
              <a:t> </a:t>
            </a:r>
            <a:r>
              <a:rPr lang="de-DE" sz="1800" dirty="0" err="1"/>
              <a:t>belongs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a </a:t>
            </a:r>
            <a:r>
              <a:rPr lang="de-DE" sz="1800" dirty="0" err="1"/>
              <a:t>symbol</a:t>
            </a:r>
            <a:endParaRPr sz="1800" dirty="0"/>
          </a:p>
        </p:txBody>
      </p:sp>
      <p:sp>
        <p:nvSpPr>
          <p:cNvPr id="425" name="Google Shape;425;p4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426" name="Google Shape;426;p4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38</a:t>
            </a:fld>
            <a:endParaRPr/>
          </a:p>
        </p:txBody>
      </p:sp>
      <p:sp>
        <p:nvSpPr>
          <p:cNvPr id="427" name="Google Shape;427;p4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428" name="Google Shape;42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5763" y="2021777"/>
            <a:ext cx="6272475" cy="1099947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9"/>
          <p:cNvSpPr/>
          <p:nvPr/>
        </p:nvSpPr>
        <p:spPr>
          <a:xfrm>
            <a:off x="5939475" y="3037875"/>
            <a:ext cx="333000" cy="568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  </a:t>
            </a:r>
            <a:endParaRPr sz="1500"/>
          </a:p>
        </p:txBody>
      </p:sp>
      <p:sp>
        <p:nvSpPr>
          <p:cNvPr id="436" name="Google Shape;436;p5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437" name="Google Shape;437;p5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39</a:t>
            </a:fld>
            <a:endParaRPr/>
          </a:p>
        </p:txBody>
      </p:sp>
      <p:sp>
        <p:nvSpPr>
          <p:cNvPr id="438" name="Google Shape;438;p5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439" name="Google Shape;4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0" name="Google Shape;440;p50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1" name="Google Shape;441;p50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Greedy:   </a:t>
            </a:r>
            <a:endParaRPr sz="1500"/>
          </a:p>
        </p:txBody>
      </p:sp>
      <p:sp>
        <p:nvSpPr>
          <p:cNvPr id="447" name="Google Shape;447;p5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448" name="Google Shape;448;p5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40</a:t>
            </a:fld>
            <a:endParaRPr/>
          </a:p>
        </p:txBody>
      </p:sp>
      <p:sp>
        <p:nvSpPr>
          <p:cNvPr id="449" name="Google Shape;449;p5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450" name="Google Shape;4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1" name="Google Shape;451;p51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2" name="Google Shape;452;p51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3" name="Google Shape;453;p51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Greedy:   </a:t>
            </a:r>
            <a:endParaRPr sz="1500"/>
          </a:p>
        </p:txBody>
      </p:sp>
      <p:sp>
        <p:nvSpPr>
          <p:cNvPr id="459" name="Google Shape;459;p5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41</a:t>
            </a:fld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462" name="Google Shape;4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3" name="Google Shape;463;p52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4" name="Google Shape;464;p52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5" name="Google Shape;465;p52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Greedy: 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escaped ⇒ 2 bytes to compressed size!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  </a:t>
            </a:r>
            <a:endParaRPr sz="1500"/>
          </a:p>
        </p:txBody>
      </p:sp>
      <p:sp>
        <p:nvSpPr>
          <p:cNvPr id="471" name="Google Shape;471;p5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42</a:t>
            </a:fld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474" name="Google Shape;47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5" name="Google Shape;475;p53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6" name="Google Shape;476;p53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p53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Greedy: 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  </a:t>
            </a:r>
            <a:endParaRPr sz="1500"/>
          </a:p>
        </p:txBody>
      </p:sp>
      <p:sp>
        <p:nvSpPr>
          <p:cNvPr id="483" name="Google Shape;483;p5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484" name="Google Shape;484;p5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43</a:t>
            </a:fld>
            <a:endParaRPr/>
          </a:p>
        </p:txBody>
      </p:sp>
      <p:sp>
        <p:nvSpPr>
          <p:cNvPr id="485" name="Google Shape;485;p5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486" name="Google Shape;48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7" name="Google Shape;487;p54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8" name="Google Shape;488;p54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9" name="Google Shape;489;p54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Greedy: 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escaped ⇒ 2 bytes to compressed size!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  </a:t>
            </a:r>
            <a:endParaRPr sz="1500"/>
          </a:p>
        </p:txBody>
      </p:sp>
      <p:sp>
        <p:nvSpPr>
          <p:cNvPr id="495" name="Google Shape;495;p5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496" name="Google Shape;496;p5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44</a:t>
            </a:fld>
            <a:endParaRPr/>
          </a:p>
        </p:txBody>
      </p:sp>
      <p:sp>
        <p:nvSpPr>
          <p:cNvPr id="497" name="Google Shape;497;p5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498" name="Google Shape;49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9" name="Google Shape;499;p55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0" name="Google Shape;500;p55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1" name="Google Shape;501;p55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Greedy: 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Total compressed size = </a:t>
            </a:r>
            <a:r>
              <a:rPr lang="de-DE" sz="1500" b="1">
                <a:solidFill>
                  <a:srgbClr val="FF0000"/>
                </a:solidFill>
              </a:rPr>
              <a:t>8 bytes</a:t>
            </a:r>
            <a:endParaRPr sz="1500" b="1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  </a:t>
            </a:r>
            <a:endParaRPr sz="1500"/>
          </a:p>
        </p:txBody>
      </p:sp>
      <p:sp>
        <p:nvSpPr>
          <p:cNvPr id="507" name="Google Shape;507;p5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508" name="Google Shape;508;p5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45</a:t>
            </a:fld>
            <a:endParaRPr/>
          </a:p>
        </p:txBody>
      </p:sp>
      <p:sp>
        <p:nvSpPr>
          <p:cNvPr id="509" name="Google Shape;509;p5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510" name="Google Shape;51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1" name="Google Shape;511;p56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2" name="Google Shape;512;p56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3" name="Google Shape;513;p56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519" name="Google Shape;519;p5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520" name="Google Shape;520;p5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46</a:t>
            </a:fld>
            <a:endParaRPr/>
          </a:p>
        </p:txBody>
      </p:sp>
      <p:sp>
        <p:nvSpPr>
          <p:cNvPr id="521" name="Google Shape;521;p5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522" name="Google Shape;52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3" name="Google Shape;523;p57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4" name="Google Shape;524;p57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5" name="Google Shape;525;p57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6" name="Google Shape;526;p57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532" name="Google Shape;532;p5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533" name="Google Shape;533;p5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47</a:t>
            </a:fld>
            <a:endParaRPr/>
          </a:p>
        </p:txBody>
      </p:sp>
      <p:sp>
        <p:nvSpPr>
          <p:cNvPr id="534" name="Google Shape;534;p5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535" name="Google Shape;53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6" name="Google Shape;536;p58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7" name="Google Shape;537;p58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8" name="Google Shape;538;p58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9" name="Google Shape;539;p58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545" name="Google Shape;545;p5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546" name="Google Shape;546;p5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48</a:t>
            </a:fld>
            <a:endParaRPr/>
          </a:p>
        </p:txBody>
      </p:sp>
      <p:sp>
        <p:nvSpPr>
          <p:cNvPr id="547" name="Google Shape;547;p5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548" name="Google Shape;54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9" name="Google Shape;549;p59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0" name="Google Shape;550;p59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1" name="Google Shape;551;p59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2" name="Google Shape;552;p59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558" name="Google Shape;558;p6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559" name="Google Shape;559;p6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49</a:t>
            </a:fld>
            <a:endParaRPr/>
          </a:p>
        </p:txBody>
      </p:sp>
      <p:sp>
        <p:nvSpPr>
          <p:cNvPr id="560" name="Google Shape;560;p6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561" name="Google Shape;56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2" name="Google Shape;562;p60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3" name="Google Shape;563;p60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4" name="Google Shape;564;p60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5" name="Google Shape;565;p60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571" name="Google Shape;571;p6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572" name="Google Shape;572;p6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50</a:t>
            </a:fld>
            <a:endParaRPr/>
          </a:p>
        </p:txBody>
      </p:sp>
      <p:sp>
        <p:nvSpPr>
          <p:cNvPr id="573" name="Google Shape;573;p6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574" name="Google Shape;57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5" name="Google Shape;575;p61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6" name="Google Shape;576;p61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7" name="Google Shape;577;p61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8" name="Google Shape;578;p61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584" name="Google Shape;584;p6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585" name="Google Shape;585;p6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51</a:t>
            </a:fld>
            <a:endParaRPr/>
          </a:p>
        </p:txBody>
      </p:sp>
      <p:sp>
        <p:nvSpPr>
          <p:cNvPr id="586" name="Google Shape;586;p6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587" name="Google Shape;58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8" name="Google Shape;588;p62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9" name="Google Shape;589;p62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" name="Google Shape;590;p62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1" name="Google Shape;591;p62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597" name="Google Shape;597;p6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598" name="Google Shape;598;p6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52</a:t>
            </a:fld>
            <a:endParaRPr/>
          </a:p>
        </p:txBody>
      </p:sp>
      <p:sp>
        <p:nvSpPr>
          <p:cNvPr id="599" name="Google Shape;599;p6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600" name="Google Shape;60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1" name="Google Shape;601;p63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2" name="Google Shape;602;p63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3" name="Google Shape;603;p63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4" name="Google Shape;604;p63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610" name="Google Shape;610;p6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611" name="Google Shape;611;p6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53</a:t>
            </a:fld>
            <a:endParaRPr/>
          </a:p>
        </p:txBody>
      </p:sp>
      <p:sp>
        <p:nvSpPr>
          <p:cNvPr id="612" name="Google Shape;612;p6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613" name="Google Shape;61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4" name="Google Shape;614;p64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5" name="Google Shape;615;p64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6" name="Google Shape;616;p64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7" name="Google Shape;617;p64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623" name="Google Shape;623;p6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624" name="Google Shape;624;p6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54</a:t>
            </a:fld>
            <a:endParaRPr/>
          </a:p>
        </p:txBody>
      </p:sp>
      <p:sp>
        <p:nvSpPr>
          <p:cNvPr id="625" name="Google Shape;625;p6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626" name="Google Shape;62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7" name="Google Shape;627;p65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8" name="Google Shape;628;p65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9" name="Google Shape;629;p65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0" name="Google Shape;630;p65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636" name="Google Shape;636;p6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637" name="Google Shape;637;p6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55</a:t>
            </a:fld>
            <a:endParaRPr/>
          </a:p>
        </p:txBody>
      </p:sp>
      <p:sp>
        <p:nvSpPr>
          <p:cNvPr id="638" name="Google Shape;638;p6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639" name="Google Shape;63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0" name="Google Shape;640;p66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1" name="Google Shape;641;p66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2" name="Google Shape;642;p66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3" name="Google Shape;643;p66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Example Compression</a:t>
            </a:r>
            <a:br>
              <a:rPr lang="de-DE" sz="1800"/>
            </a:br>
            <a:br>
              <a:rPr lang="de-DE" sz="1500"/>
            </a:br>
            <a:r>
              <a:rPr lang="de-DE" sz="1500"/>
              <a:t>Available symbols: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Text to compress: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   </a:t>
            </a:r>
            <a:endParaRPr sz="1500"/>
          </a:p>
        </p:txBody>
      </p:sp>
      <p:sp>
        <p:nvSpPr>
          <p:cNvPr id="649" name="Google Shape;649;p6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650" name="Google Shape;650;p6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56</a:t>
            </a:fld>
            <a:endParaRPr/>
          </a:p>
        </p:txBody>
      </p:sp>
      <p:sp>
        <p:nvSpPr>
          <p:cNvPr id="651" name="Google Shape;651;p6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652" name="Google Shape;65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3" name="Google Shape;653;p67"/>
          <p:cNvGraphicFramePr/>
          <p:nvPr/>
        </p:nvGraphicFramePr>
        <p:xfrm>
          <a:off x="2052150" y="2789038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4" name="Google Shape;654;p67"/>
          <p:cNvGraphicFramePr/>
          <p:nvPr/>
        </p:nvGraphicFramePr>
        <p:xfrm>
          <a:off x="2052150" y="2110225"/>
          <a:ext cx="2445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4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aac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cb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5" name="Google Shape;655;p67"/>
          <p:cNvGraphicFramePr/>
          <p:nvPr/>
        </p:nvGraphicFramePr>
        <p:xfrm>
          <a:off x="2052150" y="36280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6" name="Google Shape;656;p67"/>
          <p:cNvGraphicFramePr/>
          <p:nvPr/>
        </p:nvGraphicFramePr>
        <p:xfrm>
          <a:off x="1417250" y="431490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Retrieving the symbols</a:t>
            </a:r>
            <a:br>
              <a:rPr lang="de-DE" sz="1800"/>
            </a:b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opt:</a:t>
            </a:r>
            <a:endParaRPr sz="1500"/>
          </a:p>
        </p:txBody>
      </p:sp>
      <p:sp>
        <p:nvSpPr>
          <p:cNvPr id="662" name="Google Shape;662;p6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663" name="Google Shape;663;p6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57</a:t>
            </a:fld>
            <a:endParaRPr/>
          </a:p>
        </p:txBody>
      </p:sp>
      <p:sp>
        <p:nvSpPr>
          <p:cNvPr id="664" name="Google Shape;664;p6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665" name="Google Shape;66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6" name="Google Shape;666;p68"/>
          <p:cNvGraphicFramePr/>
          <p:nvPr/>
        </p:nvGraphicFramePr>
        <p:xfrm>
          <a:off x="1618475" y="248076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7" name="Google Shape;667;p68"/>
          <p:cNvGraphicFramePr/>
          <p:nvPr/>
        </p:nvGraphicFramePr>
        <p:xfrm>
          <a:off x="983625" y="319205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8" name="Google Shape;668;p68"/>
          <p:cNvGraphicFramePr/>
          <p:nvPr/>
        </p:nvGraphicFramePr>
        <p:xfrm>
          <a:off x="1618475" y="37018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Retrieving the symbols</a:t>
            </a:r>
            <a:br>
              <a:rPr lang="de-DE" sz="1800"/>
            </a:b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opt:</a:t>
            </a:r>
            <a:endParaRPr sz="1500"/>
          </a:p>
        </p:txBody>
      </p:sp>
      <p:sp>
        <p:nvSpPr>
          <p:cNvPr id="674" name="Google Shape;674;p6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675" name="Google Shape;675;p6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58</a:t>
            </a:fld>
            <a:endParaRPr/>
          </a:p>
        </p:txBody>
      </p:sp>
      <p:sp>
        <p:nvSpPr>
          <p:cNvPr id="676" name="Google Shape;676;p6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677" name="Google Shape;67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8" name="Google Shape;678;p69"/>
          <p:cNvGraphicFramePr/>
          <p:nvPr/>
        </p:nvGraphicFramePr>
        <p:xfrm>
          <a:off x="1618475" y="248076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9" name="Google Shape;679;p69"/>
          <p:cNvGraphicFramePr/>
          <p:nvPr/>
        </p:nvGraphicFramePr>
        <p:xfrm>
          <a:off x="983625" y="319205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0" name="Google Shape;680;p69"/>
          <p:cNvGraphicFramePr/>
          <p:nvPr/>
        </p:nvGraphicFramePr>
        <p:xfrm>
          <a:off x="1618475" y="37018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aa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1" name="Google Shape;681;p69"/>
          <p:cNvSpPr/>
          <p:nvPr/>
        </p:nvSpPr>
        <p:spPr>
          <a:xfrm flipH="1">
            <a:off x="5647900" y="2154125"/>
            <a:ext cx="1448100" cy="3291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Retrieving the symbols</a:t>
            </a:r>
            <a:br>
              <a:rPr lang="de-DE" sz="1800"/>
            </a:b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opt:</a:t>
            </a:r>
            <a:endParaRPr sz="1500"/>
          </a:p>
        </p:txBody>
      </p:sp>
      <p:sp>
        <p:nvSpPr>
          <p:cNvPr id="687" name="Google Shape;687;p7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688" name="Google Shape;688;p7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59</a:t>
            </a:fld>
            <a:endParaRPr/>
          </a:p>
        </p:txBody>
      </p:sp>
      <p:sp>
        <p:nvSpPr>
          <p:cNvPr id="689" name="Google Shape;689;p7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690" name="Google Shape;69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1" name="Google Shape;691;p70"/>
          <p:cNvGraphicFramePr/>
          <p:nvPr/>
        </p:nvGraphicFramePr>
        <p:xfrm>
          <a:off x="1618475" y="248076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2" name="Google Shape;692;p70"/>
          <p:cNvGraphicFramePr/>
          <p:nvPr/>
        </p:nvGraphicFramePr>
        <p:xfrm>
          <a:off x="983625" y="319205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3" name="Google Shape;693;p70"/>
          <p:cNvGraphicFramePr/>
          <p:nvPr/>
        </p:nvGraphicFramePr>
        <p:xfrm>
          <a:off x="1618475" y="37018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cb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aa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4" name="Google Shape;694;p70"/>
          <p:cNvSpPr/>
          <p:nvPr/>
        </p:nvSpPr>
        <p:spPr>
          <a:xfrm flipH="1">
            <a:off x="4408875" y="2151675"/>
            <a:ext cx="1448100" cy="3291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Retrieving the symbols</a:t>
            </a:r>
            <a:br>
              <a:rPr lang="de-DE" sz="1800"/>
            </a:b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opt:</a:t>
            </a:r>
            <a:endParaRPr sz="1500"/>
          </a:p>
        </p:txBody>
      </p:sp>
      <p:sp>
        <p:nvSpPr>
          <p:cNvPr id="700" name="Google Shape;700;p7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701" name="Google Shape;701;p7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60</a:t>
            </a:fld>
            <a:endParaRPr/>
          </a:p>
        </p:txBody>
      </p:sp>
      <p:sp>
        <p:nvSpPr>
          <p:cNvPr id="702" name="Google Shape;702;p7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703" name="Google Shape;70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4" name="Google Shape;704;p71"/>
          <p:cNvGraphicFramePr/>
          <p:nvPr/>
        </p:nvGraphicFramePr>
        <p:xfrm>
          <a:off x="1618475" y="248076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5" name="Google Shape;705;p71"/>
          <p:cNvGraphicFramePr/>
          <p:nvPr/>
        </p:nvGraphicFramePr>
        <p:xfrm>
          <a:off x="983625" y="319205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6" name="Google Shape;706;p71"/>
          <p:cNvGraphicFramePr/>
          <p:nvPr/>
        </p:nvGraphicFramePr>
        <p:xfrm>
          <a:off x="1618475" y="37018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aa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cb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aa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7" name="Google Shape;707;p71"/>
          <p:cNvSpPr/>
          <p:nvPr/>
        </p:nvSpPr>
        <p:spPr>
          <a:xfrm flipH="1">
            <a:off x="3038225" y="2151675"/>
            <a:ext cx="1448100" cy="3291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Retrieving the symbols</a:t>
            </a:r>
            <a:br>
              <a:rPr lang="de-DE" sz="1800"/>
            </a:b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opt:</a:t>
            </a:r>
            <a:endParaRPr sz="1500"/>
          </a:p>
        </p:txBody>
      </p:sp>
      <p:sp>
        <p:nvSpPr>
          <p:cNvPr id="713" name="Google Shape;713;p7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714" name="Google Shape;714;p7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61</a:t>
            </a:fld>
            <a:endParaRPr/>
          </a:p>
        </p:txBody>
      </p:sp>
      <p:sp>
        <p:nvSpPr>
          <p:cNvPr id="715" name="Google Shape;715;p7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716" name="Google Shape;71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7" name="Google Shape;717;p72"/>
          <p:cNvGraphicFramePr/>
          <p:nvPr/>
        </p:nvGraphicFramePr>
        <p:xfrm>
          <a:off x="1618475" y="248076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8" name="Google Shape;718;p72"/>
          <p:cNvGraphicFramePr/>
          <p:nvPr/>
        </p:nvGraphicFramePr>
        <p:xfrm>
          <a:off x="983625" y="319205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9" name="Google Shape;719;p72"/>
          <p:cNvGraphicFramePr/>
          <p:nvPr/>
        </p:nvGraphicFramePr>
        <p:xfrm>
          <a:off x="1618475" y="37018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cb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aa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cb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aa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0" name="Google Shape;720;p72"/>
          <p:cNvSpPr/>
          <p:nvPr/>
        </p:nvSpPr>
        <p:spPr>
          <a:xfrm flipH="1">
            <a:off x="1799200" y="2151675"/>
            <a:ext cx="1448100" cy="3291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Retrieving the symbols</a:t>
            </a:r>
            <a:br>
              <a:rPr lang="de-DE" sz="1800"/>
            </a:b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dp:</a:t>
            </a: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opt:</a:t>
            </a:r>
            <a:endParaRPr sz="1500"/>
          </a:p>
        </p:txBody>
      </p:sp>
      <p:sp>
        <p:nvSpPr>
          <p:cNvPr id="726" name="Google Shape;726;p7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727" name="Google Shape;727;p7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62</a:t>
            </a:fld>
            <a:endParaRPr/>
          </a:p>
        </p:txBody>
      </p:sp>
      <p:sp>
        <p:nvSpPr>
          <p:cNvPr id="728" name="Google Shape;728;p7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729" name="Google Shape;72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0" name="Google Shape;730;p73"/>
          <p:cNvGraphicFramePr/>
          <p:nvPr/>
        </p:nvGraphicFramePr>
        <p:xfrm>
          <a:off x="1618475" y="248076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2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1" name="Google Shape;731;p73"/>
          <p:cNvGraphicFramePr/>
          <p:nvPr/>
        </p:nvGraphicFramePr>
        <p:xfrm>
          <a:off x="983625" y="3192050"/>
          <a:ext cx="64025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0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</a:t>
                      </a:r>
                      <a:endParaRPr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2" name="Google Shape;732;p73"/>
          <p:cNvGraphicFramePr/>
          <p:nvPr/>
        </p:nvGraphicFramePr>
        <p:xfrm>
          <a:off x="1618475" y="3701813"/>
          <a:ext cx="5767650" cy="55635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6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cb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aa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cb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aa</a:t>
                      </a: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3" name="Google Shape;733;p73"/>
          <p:cNvSpPr/>
          <p:nvPr/>
        </p:nvSpPr>
        <p:spPr>
          <a:xfrm flipH="1">
            <a:off x="1187450" y="2151675"/>
            <a:ext cx="782100" cy="3291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7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Need two passes: one for DP and one for opt.</a:t>
            </a:r>
            <a:br>
              <a:rPr lang="de-DE"/>
            </a:b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7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740" name="Google Shape;740;p7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63</a:t>
            </a:fld>
            <a:endParaRPr/>
          </a:p>
        </p:txBody>
      </p:sp>
      <p:sp>
        <p:nvSpPr>
          <p:cNvPr id="741" name="Google Shape;741;p7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742" name="Google Shape;74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7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Need two passes: one for DP and one for opt.</a:t>
            </a:r>
            <a:br>
              <a:rPr lang="de-DE"/>
            </a:b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Implemented a single-pass function (backwards)</a:t>
            </a:r>
            <a:br>
              <a:rPr lang="de-DE"/>
            </a:br>
            <a:endParaRPr/>
          </a:p>
        </p:txBody>
      </p:sp>
      <p:sp>
        <p:nvSpPr>
          <p:cNvPr id="748" name="Google Shape;748;p7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749" name="Google Shape;749;p7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64</a:t>
            </a:fld>
            <a:endParaRPr/>
          </a:p>
        </p:txBody>
      </p:sp>
      <p:sp>
        <p:nvSpPr>
          <p:cNvPr id="750" name="Google Shape;750;p7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751" name="Google Shape;75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7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Need two passes: one for DP and one for opt.</a:t>
            </a:r>
            <a:br>
              <a:rPr lang="de-DE"/>
            </a:b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Implemented a single-pass function (backwards)</a:t>
            </a:r>
            <a:br>
              <a:rPr lang="de-DE"/>
            </a:br>
            <a:r>
              <a:rPr lang="de-DE"/>
              <a:t>⇒ Fills DP and opt simultaneously</a:t>
            </a:r>
            <a:endParaRPr/>
          </a:p>
        </p:txBody>
      </p:sp>
      <p:sp>
        <p:nvSpPr>
          <p:cNvPr id="757" name="Google Shape;757;p7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758" name="Google Shape;758;p7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65</a:t>
            </a:fld>
            <a:endParaRPr/>
          </a:p>
        </p:txBody>
      </p:sp>
      <p:sp>
        <p:nvSpPr>
          <p:cNvPr id="759" name="Google Shape;759;p7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760" name="Google Shape;76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Symbol search: Trie </a:t>
            </a:r>
            <a:endParaRPr sz="1800"/>
          </a:p>
        </p:txBody>
      </p:sp>
      <p:sp>
        <p:nvSpPr>
          <p:cNvPr id="766" name="Google Shape;766;p7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767" name="Google Shape;767;p7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66</a:t>
            </a:fld>
            <a:endParaRPr/>
          </a:p>
        </p:txBody>
      </p:sp>
      <p:sp>
        <p:nvSpPr>
          <p:cNvPr id="768" name="Google Shape;768;p7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769" name="Google Shape;76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7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Symbol search: Trie</a:t>
            </a: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Break when no symbol matches a certain prefix</a:t>
            </a: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 sz="1800"/>
            </a:br>
            <a:br>
              <a:rPr lang="de-DE" sz="1800"/>
            </a:br>
            <a:r>
              <a:rPr lang="de-DE" sz="1800"/>
              <a:t> </a:t>
            </a:r>
            <a:endParaRPr sz="1800"/>
          </a:p>
        </p:txBody>
      </p:sp>
      <p:sp>
        <p:nvSpPr>
          <p:cNvPr id="775" name="Google Shape;775;p7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776" name="Google Shape;776;p7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67</a:t>
            </a:fld>
            <a:endParaRPr/>
          </a:p>
        </p:txBody>
      </p:sp>
      <p:sp>
        <p:nvSpPr>
          <p:cNvPr id="777" name="Google Shape;777;p7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778" name="Google Shape;77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7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Symbol search: Trie</a:t>
            </a: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Break when no symbol matches a certain prefix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DP in table construction and encoding ⇒ no hashing needed (no collisions)</a:t>
            </a:r>
            <a:br>
              <a:rPr lang="de-DE" sz="1800"/>
            </a:br>
            <a:br>
              <a:rPr lang="de-DE" sz="1800"/>
            </a:br>
            <a:r>
              <a:rPr lang="de-DE" sz="1800"/>
              <a:t> </a:t>
            </a:r>
            <a:endParaRPr sz="1800"/>
          </a:p>
        </p:txBody>
      </p:sp>
      <p:sp>
        <p:nvSpPr>
          <p:cNvPr id="784" name="Google Shape;784;p7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785" name="Google Shape;785;p7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68</a:t>
            </a:fld>
            <a:endParaRPr/>
          </a:p>
        </p:txBody>
      </p:sp>
      <p:sp>
        <p:nvSpPr>
          <p:cNvPr id="786" name="Google Shape;786;p7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787" name="Google Shape;78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Symbol search: Trie</a:t>
            </a: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Break when no symbol matches a certain prefix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DP in table construction and encoding ⇒ no hashing needed (no collisions)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Compare one byte at a time instead of whole symbols</a:t>
            </a: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 sz="1800"/>
            </a:br>
            <a:br>
              <a:rPr lang="de-DE" sz="1800"/>
            </a:br>
            <a:r>
              <a:rPr lang="de-DE" sz="1800"/>
              <a:t> </a:t>
            </a:r>
            <a:endParaRPr sz="1800"/>
          </a:p>
        </p:txBody>
      </p:sp>
      <p:sp>
        <p:nvSpPr>
          <p:cNvPr id="793" name="Google Shape;793;p8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794" name="Google Shape;794;p8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69</a:t>
            </a:fld>
            <a:endParaRPr/>
          </a:p>
        </p:txBody>
      </p:sp>
      <p:sp>
        <p:nvSpPr>
          <p:cNvPr id="795" name="Google Shape;795;p8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796" name="Google Shape;79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Symbol search: Trie</a:t>
            </a: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Break when no symbol matches a certain prefix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DP in table construction and encoding ⇒ no hashing needed (no collisions)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Compare one byte at a time instead of whole symbols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sz="1500"/>
              <a:t>Small additional memory (around 2 MB for extreme case)</a:t>
            </a:r>
            <a:br>
              <a:rPr lang="de-DE" sz="1800"/>
            </a:br>
            <a:br>
              <a:rPr lang="de-DE" sz="1800"/>
            </a:br>
            <a:r>
              <a:rPr lang="de-DE" sz="1800"/>
              <a:t> </a:t>
            </a:r>
            <a:endParaRPr sz="1800"/>
          </a:p>
        </p:txBody>
      </p:sp>
      <p:sp>
        <p:nvSpPr>
          <p:cNvPr id="802" name="Google Shape;802;p8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803" name="Google Shape;803;p8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70</a:t>
            </a:fld>
            <a:endParaRPr/>
          </a:p>
        </p:txBody>
      </p:sp>
      <p:sp>
        <p:nvSpPr>
          <p:cNvPr id="804" name="Google Shape;804;p8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05" name="Google Shape;80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8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Third counter</a:t>
            </a:r>
            <a:endParaRPr sz="1800"/>
          </a:p>
        </p:txBody>
      </p:sp>
      <p:sp>
        <p:nvSpPr>
          <p:cNvPr id="811" name="Google Shape;811;p8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812" name="Google Shape;812;p8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71</a:t>
            </a:fld>
            <a:endParaRPr/>
          </a:p>
        </p:txBody>
      </p:sp>
      <p:sp>
        <p:nvSpPr>
          <p:cNvPr id="813" name="Google Shape;813;p8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14" name="Google Shape;81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8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Third counter</a:t>
            </a:r>
            <a:br>
              <a:rPr lang="de-DE" sz="1800"/>
            </a:br>
            <a:r>
              <a:rPr lang="de-DE"/>
              <a:t>   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DP approach may favor shorter symbols ⇒ balance with longer concatenations</a:t>
            </a:r>
            <a:br>
              <a:rPr lang="de-DE"/>
            </a:b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8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821" name="Google Shape;821;p8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72</a:t>
            </a:fld>
            <a:endParaRPr/>
          </a:p>
        </p:txBody>
      </p:sp>
      <p:sp>
        <p:nvSpPr>
          <p:cNvPr id="822" name="Google Shape;822;p8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23" name="Google Shape;82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8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Third counter</a:t>
            </a:r>
            <a:br>
              <a:rPr lang="de-DE" sz="1800"/>
            </a:br>
            <a:r>
              <a:rPr lang="de-DE"/>
              <a:t>   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DP approach may favor shorter symbols ⇒ balance with longer concatenations</a:t>
            </a:r>
            <a:br>
              <a:rPr lang="de-DE"/>
            </a:b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Linear time overhead</a:t>
            </a:r>
            <a:br>
              <a:rPr lang="de-DE"/>
            </a:br>
            <a:br>
              <a:rPr lang="de-DE"/>
            </a:br>
            <a:endParaRPr/>
          </a:p>
        </p:txBody>
      </p:sp>
      <p:sp>
        <p:nvSpPr>
          <p:cNvPr id="829" name="Google Shape;829;p8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830" name="Google Shape;830;p8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73</a:t>
            </a:fld>
            <a:endParaRPr/>
          </a:p>
        </p:txBody>
      </p:sp>
      <p:sp>
        <p:nvSpPr>
          <p:cNvPr id="831" name="Google Shape;831;p8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32" name="Google Shape;83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Third counter</a:t>
            </a:r>
            <a:br>
              <a:rPr lang="de-DE" sz="1800"/>
            </a:br>
            <a:r>
              <a:rPr lang="de-DE"/>
              <a:t>   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DP approach may favor shorter symbols ⇒ balance with longer concatenations</a:t>
            </a:r>
            <a:br>
              <a:rPr lang="de-DE"/>
            </a:b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Linear time overhead</a:t>
            </a:r>
            <a:br>
              <a:rPr lang="de-DE"/>
            </a:b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Simple structure: hashmap of code triples to frequency </a:t>
            </a:r>
            <a:endParaRPr/>
          </a:p>
        </p:txBody>
      </p:sp>
      <p:sp>
        <p:nvSpPr>
          <p:cNvPr id="838" name="Google Shape;838;p8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839" name="Google Shape;839;p8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74</a:t>
            </a:fld>
            <a:endParaRPr/>
          </a:p>
        </p:txBody>
      </p:sp>
      <p:sp>
        <p:nvSpPr>
          <p:cNvPr id="840" name="Google Shape;840;p8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41" name="Google Shape;84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8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 sz="1800"/>
          </a:p>
        </p:txBody>
      </p:sp>
      <p:sp>
        <p:nvSpPr>
          <p:cNvPr id="847" name="Google Shape;847;p8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848" name="Google Shape;848;p8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75</a:t>
            </a:fld>
            <a:endParaRPr/>
          </a:p>
        </p:txBody>
      </p:sp>
      <p:sp>
        <p:nvSpPr>
          <p:cNvPr id="849" name="Google Shape;849;p8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50" name="Google Shape;85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8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Gains remain static through table filling and do not account for current selected symbols</a:t>
            </a:r>
            <a:endParaRPr/>
          </a:p>
        </p:txBody>
      </p:sp>
      <p:sp>
        <p:nvSpPr>
          <p:cNvPr id="856" name="Google Shape;856;p8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857" name="Google Shape;857;p8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76</a:t>
            </a:fld>
            <a:endParaRPr/>
          </a:p>
        </p:txBody>
      </p:sp>
      <p:sp>
        <p:nvSpPr>
          <p:cNvPr id="858" name="Google Shape;858;p8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59" name="Google Shape;85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Available symbols: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865" name="Google Shape;865;p8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866" name="Google Shape;866;p8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77</a:t>
            </a:fld>
            <a:endParaRPr/>
          </a:p>
        </p:txBody>
      </p:sp>
      <p:sp>
        <p:nvSpPr>
          <p:cNvPr id="867" name="Google Shape;867;p8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68" name="Google Shape;86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9" name="Google Shape;869;p88"/>
          <p:cNvGraphicFramePr/>
          <p:nvPr/>
        </p:nvGraphicFramePr>
        <p:xfrm>
          <a:off x="952500" y="2640175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0" name="Google Shape;870;p88"/>
          <p:cNvGraphicFramePr/>
          <p:nvPr/>
        </p:nvGraphicFramePr>
        <p:xfrm>
          <a:off x="1954425" y="2055988"/>
          <a:ext cx="114855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1" name="Google Shape;871;p88"/>
          <p:cNvGraphicFramePr/>
          <p:nvPr/>
        </p:nvGraphicFramePr>
        <p:xfrm>
          <a:off x="1269975" y="33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Available symbols: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877" name="Google Shape;877;p8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878" name="Google Shape;878;p8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78</a:t>
            </a:fld>
            <a:endParaRPr/>
          </a:p>
        </p:txBody>
      </p:sp>
      <p:sp>
        <p:nvSpPr>
          <p:cNvPr id="879" name="Google Shape;879;p8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80" name="Google Shape;88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1" name="Google Shape;881;p89"/>
          <p:cNvGraphicFramePr/>
          <p:nvPr/>
        </p:nvGraphicFramePr>
        <p:xfrm>
          <a:off x="952500" y="2640175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2" name="Google Shape;882;p89"/>
          <p:cNvGraphicFramePr/>
          <p:nvPr/>
        </p:nvGraphicFramePr>
        <p:xfrm>
          <a:off x="1954425" y="2055988"/>
          <a:ext cx="114855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3" name="Google Shape;883;p89"/>
          <p:cNvGraphicFramePr/>
          <p:nvPr/>
        </p:nvGraphicFramePr>
        <p:xfrm>
          <a:off x="1269975" y="33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9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Available symbols: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889" name="Google Shape;889;p9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890" name="Google Shape;890;p9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79</a:t>
            </a:fld>
            <a:endParaRPr/>
          </a:p>
        </p:txBody>
      </p:sp>
      <p:sp>
        <p:nvSpPr>
          <p:cNvPr id="891" name="Google Shape;891;p9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892" name="Google Shape;89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3" name="Google Shape;893;p90"/>
          <p:cNvGraphicFramePr/>
          <p:nvPr/>
        </p:nvGraphicFramePr>
        <p:xfrm>
          <a:off x="952500" y="2640175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4" name="Google Shape;894;p90"/>
          <p:cNvGraphicFramePr/>
          <p:nvPr/>
        </p:nvGraphicFramePr>
        <p:xfrm>
          <a:off x="1954425" y="2055988"/>
          <a:ext cx="114855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5" name="Google Shape;895;p90"/>
          <p:cNvGraphicFramePr/>
          <p:nvPr/>
        </p:nvGraphicFramePr>
        <p:xfrm>
          <a:off x="1269975" y="33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9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Available symbols: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901" name="Google Shape;901;p9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902" name="Google Shape;902;p9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80</a:t>
            </a:fld>
            <a:endParaRPr/>
          </a:p>
        </p:txBody>
      </p:sp>
      <p:sp>
        <p:nvSpPr>
          <p:cNvPr id="903" name="Google Shape;903;p9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904" name="Google Shape;90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5" name="Google Shape;905;p91"/>
          <p:cNvGraphicFramePr/>
          <p:nvPr/>
        </p:nvGraphicFramePr>
        <p:xfrm>
          <a:off x="952500" y="2640175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06" name="Google Shape;906;p91"/>
          <p:cNvGraphicFramePr/>
          <p:nvPr/>
        </p:nvGraphicFramePr>
        <p:xfrm>
          <a:off x="1954425" y="2055988"/>
          <a:ext cx="114855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07" name="Google Shape;907;p91"/>
          <p:cNvGraphicFramePr/>
          <p:nvPr/>
        </p:nvGraphicFramePr>
        <p:xfrm>
          <a:off x="1269975" y="33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9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Available symbols: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913" name="Google Shape;913;p9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914" name="Google Shape;914;p9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81</a:t>
            </a:fld>
            <a:endParaRPr/>
          </a:p>
        </p:txBody>
      </p:sp>
      <p:sp>
        <p:nvSpPr>
          <p:cNvPr id="915" name="Google Shape;915;p9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916" name="Google Shape;91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7" name="Google Shape;917;p92"/>
          <p:cNvGraphicFramePr/>
          <p:nvPr/>
        </p:nvGraphicFramePr>
        <p:xfrm>
          <a:off x="952500" y="2640175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18" name="Google Shape;918;p92"/>
          <p:cNvGraphicFramePr/>
          <p:nvPr/>
        </p:nvGraphicFramePr>
        <p:xfrm>
          <a:off x="1954425" y="2055988"/>
          <a:ext cx="114855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19" name="Google Shape;919;p92"/>
          <p:cNvGraphicFramePr/>
          <p:nvPr/>
        </p:nvGraphicFramePr>
        <p:xfrm>
          <a:off x="1269975" y="33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9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Available symbols: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925" name="Google Shape;925;p9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926" name="Google Shape;926;p9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82</a:t>
            </a:fld>
            <a:endParaRPr/>
          </a:p>
        </p:txBody>
      </p:sp>
      <p:sp>
        <p:nvSpPr>
          <p:cNvPr id="927" name="Google Shape;927;p9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928" name="Google Shape;92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9" name="Google Shape;929;p93"/>
          <p:cNvGraphicFramePr/>
          <p:nvPr/>
        </p:nvGraphicFramePr>
        <p:xfrm>
          <a:off x="952500" y="2640175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30" name="Google Shape;930;p93"/>
          <p:cNvGraphicFramePr/>
          <p:nvPr/>
        </p:nvGraphicFramePr>
        <p:xfrm>
          <a:off x="1954425" y="2055988"/>
          <a:ext cx="114855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31" name="Google Shape;931;p93"/>
          <p:cNvGraphicFramePr/>
          <p:nvPr/>
        </p:nvGraphicFramePr>
        <p:xfrm>
          <a:off x="1269975" y="33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9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Available symbols: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937" name="Google Shape;937;p9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938" name="Google Shape;938;p9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83</a:t>
            </a:fld>
            <a:endParaRPr/>
          </a:p>
        </p:txBody>
      </p:sp>
      <p:sp>
        <p:nvSpPr>
          <p:cNvPr id="939" name="Google Shape;939;p9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940" name="Google Shape;94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1" name="Google Shape;941;p94"/>
          <p:cNvGraphicFramePr/>
          <p:nvPr/>
        </p:nvGraphicFramePr>
        <p:xfrm>
          <a:off x="952500" y="2640175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2" name="Google Shape;942;p94"/>
          <p:cNvGraphicFramePr/>
          <p:nvPr/>
        </p:nvGraphicFramePr>
        <p:xfrm>
          <a:off x="1954425" y="2055988"/>
          <a:ext cx="114855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3" name="Google Shape;943;p94"/>
          <p:cNvGraphicFramePr/>
          <p:nvPr/>
        </p:nvGraphicFramePr>
        <p:xfrm>
          <a:off x="1269975" y="33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9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Available symbols: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949" name="Google Shape;949;p9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950" name="Google Shape;950;p9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84</a:t>
            </a:fld>
            <a:endParaRPr/>
          </a:p>
        </p:txBody>
      </p:sp>
      <p:sp>
        <p:nvSpPr>
          <p:cNvPr id="951" name="Google Shape;951;p9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952" name="Google Shape;95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3" name="Google Shape;953;p95"/>
          <p:cNvGraphicFramePr/>
          <p:nvPr/>
        </p:nvGraphicFramePr>
        <p:xfrm>
          <a:off x="952500" y="2640175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4" name="Google Shape;954;p95"/>
          <p:cNvGraphicFramePr/>
          <p:nvPr/>
        </p:nvGraphicFramePr>
        <p:xfrm>
          <a:off x="1954425" y="2055988"/>
          <a:ext cx="114855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5" name="Google Shape;955;p95"/>
          <p:cNvGraphicFramePr/>
          <p:nvPr/>
        </p:nvGraphicFramePr>
        <p:xfrm>
          <a:off x="1269975" y="33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9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Available symbols: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961" name="Google Shape;961;p9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962" name="Google Shape;962;p9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85</a:t>
            </a:fld>
            <a:endParaRPr/>
          </a:p>
        </p:txBody>
      </p:sp>
      <p:sp>
        <p:nvSpPr>
          <p:cNvPr id="963" name="Google Shape;963;p9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964" name="Google Shape;96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5" name="Google Shape;965;p96"/>
          <p:cNvGraphicFramePr/>
          <p:nvPr/>
        </p:nvGraphicFramePr>
        <p:xfrm>
          <a:off x="952500" y="2640175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6" name="Google Shape;966;p96"/>
          <p:cNvGraphicFramePr/>
          <p:nvPr/>
        </p:nvGraphicFramePr>
        <p:xfrm>
          <a:off x="1954425" y="2055988"/>
          <a:ext cx="114855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7" name="Google Shape;967;p96"/>
          <p:cNvGraphicFramePr/>
          <p:nvPr/>
        </p:nvGraphicFramePr>
        <p:xfrm>
          <a:off x="1269975" y="33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9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Available symbols: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Gains: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973" name="Google Shape;973;p9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974" name="Google Shape;974;p9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86</a:t>
            </a:fld>
            <a:endParaRPr/>
          </a:p>
        </p:txBody>
      </p:sp>
      <p:sp>
        <p:nvSpPr>
          <p:cNvPr id="975" name="Google Shape;975;p9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976" name="Google Shape;97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7" name="Google Shape;977;p97"/>
          <p:cNvGraphicFramePr/>
          <p:nvPr/>
        </p:nvGraphicFramePr>
        <p:xfrm>
          <a:off x="952500" y="2640175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8" name="Google Shape;978;p97"/>
          <p:cNvGraphicFramePr/>
          <p:nvPr/>
        </p:nvGraphicFramePr>
        <p:xfrm>
          <a:off x="1954425" y="2055988"/>
          <a:ext cx="114855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9" name="Google Shape;979;p97"/>
          <p:cNvGraphicFramePr/>
          <p:nvPr/>
        </p:nvGraphicFramePr>
        <p:xfrm>
          <a:off x="1269975" y="33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0" name="Google Shape;980;p97"/>
          <p:cNvGraphicFramePr/>
          <p:nvPr/>
        </p:nvGraphicFramePr>
        <p:xfrm>
          <a:off x="1269975" y="38951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9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Without 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Gains: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New symbol table: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986" name="Google Shape;986;p9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987" name="Google Shape;987;p9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87</a:t>
            </a:fld>
            <a:endParaRPr/>
          </a:p>
        </p:txBody>
      </p:sp>
      <p:sp>
        <p:nvSpPr>
          <p:cNvPr id="988" name="Google Shape;988;p9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989" name="Google Shape;98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90" name="Google Shape;990;p98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1" name="Google Shape;991;p98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2" name="Google Shape;992;p98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3" name="Google Shape;993;p98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9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 sz="1800" dirty="0" err="1"/>
              <a:t>Without</a:t>
            </a:r>
            <a:r>
              <a:rPr lang="de-DE" sz="1800" dirty="0"/>
              <a:t>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				       			  				       </a:t>
            </a:r>
            <a:endParaRPr dirty="0"/>
          </a:p>
        </p:txBody>
      </p:sp>
      <p:sp>
        <p:nvSpPr>
          <p:cNvPr id="999" name="Google Shape;999;p9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000" name="Google Shape;1000;p9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88</a:t>
            </a:fld>
            <a:endParaRPr/>
          </a:p>
        </p:txBody>
      </p:sp>
      <p:sp>
        <p:nvSpPr>
          <p:cNvPr id="1001" name="Google Shape;1001;p9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002" name="Google Shape;100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3" name="Google Shape;1003;p99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04" name="Google Shape;1004;p99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05" name="Google Shape;1005;p99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06" name="Google Shape;1006;p99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0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 sz="1800" dirty="0" err="1"/>
              <a:t>Without</a:t>
            </a:r>
            <a:r>
              <a:rPr lang="de-DE" sz="1800" dirty="0"/>
              <a:t>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 				       		     </a:t>
            </a:r>
            <a:endParaRPr dirty="0"/>
          </a:p>
        </p:txBody>
      </p:sp>
      <p:sp>
        <p:nvSpPr>
          <p:cNvPr id="1012" name="Google Shape;1012;p10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013" name="Google Shape;1013;p10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89</a:t>
            </a:fld>
            <a:endParaRPr/>
          </a:p>
        </p:txBody>
      </p:sp>
      <p:sp>
        <p:nvSpPr>
          <p:cNvPr id="1014" name="Google Shape;1014;p10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015" name="Google Shape;101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6" name="Google Shape;1016;p100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7" name="Google Shape;1017;p100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8" name="Google Shape;1018;p100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9" name="Google Shape;1019;p100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0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 sz="1800" dirty="0" err="1"/>
              <a:t>Without</a:t>
            </a:r>
            <a:r>
              <a:rPr lang="de-DE" sz="1800" dirty="0"/>
              <a:t>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		        </a:t>
            </a:r>
            <a:endParaRPr dirty="0"/>
          </a:p>
        </p:txBody>
      </p:sp>
      <p:sp>
        <p:nvSpPr>
          <p:cNvPr id="1025" name="Google Shape;1025;p10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026" name="Google Shape;1026;p10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90</a:t>
            </a:fld>
            <a:endParaRPr/>
          </a:p>
        </p:txBody>
      </p:sp>
      <p:sp>
        <p:nvSpPr>
          <p:cNvPr id="1027" name="Google Shape;1027;p10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028" name="Google Shape;102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9" name="Google Shape;1029;p101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0" name="Google Shape;1030;p101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1" name="Google Shape;1031;p101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2" name="Google Shape;1032;p101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0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 sz="1800" dirty="0" err="1"/>
              <a:t>Without</a:t>
            </a:r>
            <a:r>
              <a:rPr lang="de-DE" sz="1800" dirty="0"/>
              <a:t>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 					   </a:t>
            </a:r>
            <a:endParaRPr dirty="0"/>
          </a:p>
        </p:txBody>
      </p:sp>
      <p:sp>
        <p:nvSpPr>
          <p:cNvPr id="1038" name="Google Shape;1038;p10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039" name="Google Shape;1039;p10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91</a:t>
            </a:fld>
            <a:endParaRPr/>
          </a:p>
        </p:txBody>
      </p:sp>
      <p:sp>
        <p:nvSpPr>
          <p:cNvPr id="1040" name="Google Shape;1040;p10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041" name="Google Shape;104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2" name="Google Shape;1042;p102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43" name="Google Shape;1043;p102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44" name="Google Shape;1044;p102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45" name="Google Shape;1045;p102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0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 sz="1800" dirty="0" err="1"/>
              <a:t>Without</a:t>
            </a:r>
            <a:r>
              <a:rPr lang="de-DE" sz="1800" dirty="0"/>
              <a:t>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 				</a:t>
            </a:r>
            <a:endParaRPr dirty="0"/>
          </a:p>
        </p:txBody>
      </p:sp>
      <p:sp>
        <p:nvSpPr>
          <p:cNvPr id="1051" name="Google Shape;1051;p10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052" name="Google Shape;1052;p10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92</a:t>
            </a:fld>
            <a:endParaRPr/>
          </a:p>
        </p:txBody>
      </p:sp>
      <p:sp>
        <p:nvSpPr>
          <p:cNvPr id="1053" name="Google Shape;1053;p10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054" name="Google Shape;105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55" name="Google Shape;1055;p103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56" name="Google Shape;1056;p103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57" name="Google Shape;1057;p103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58" name="Google Shape;1058;p103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0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 sz="1800" dirty="0" err="1"/>
              <a:t>Without</a:t>
            </a:r>
            <a:r>
              <a:rPr lang="de-DE" sz="1800" dirty="0"/>
              <a:t>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				</a:t>
            </a:r>
            <a:endParaRPr dirty="0"/>
          </a:p>
        </p:txBody>
      </p:sp>
      <p:sp>
        <p:nvSpPr>
          <p:cNvPr id="1064" name="Google Shape;1064;p10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065" name="Google Shape;1065;p10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93</a:t>
            </a:fld>
            <a:endParaRPr/>
          </a:p>
        </p:txBody>
      </p:sp>
      <p:sp>
        <p:nvSpPr>
          <p:cNvPr id="1066" name="Google Shape;1066;p10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067" name="Google Shape;106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8" name="Google Shape;1068;p104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9" name="Google Shape;1069;p104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70" name="Google Shape;1070;p104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71" name="Google Shape;1071;p104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0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With Pruning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Text: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Counts: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Gains: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New symbol table: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</a:t>
            </a:r>
            <a:endParaRPr/>
          </a:p>
        </p:txBody>
      </p:sp>
      <p:sp>
        <p:nvSpPr>
          <p:cNvPr id="1077" name="Google Shape;1077;p10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078" name="Google Shape;1078;p10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94</a:t>
            </a:fld>
            <a:endParaRPr/>
          </a:p>
        </p:txBody>
      </p:sp>
      <p:sp>
        <p:nvSpPr>
          <p:cNvPr id="1079" name="Google Shape;1079;p10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080" name="Google Shape;1080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1" name="Google Shape;1081;p105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82" name="Google Shape;1082;p105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83" name="Google Shape;1083;p105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84" name="Google Shape;1084;p105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0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With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							   </a:t>
            </a:r>
            <a:endParaRPr dirty="0"/>
          </a:p>
        </p:txBody>
      </p:sp>
      <p:sp>
        <p:nvSpPr>
          <p:cNvPr id="1090" name="Google Shape;1090;p10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091" name="Google Shape;1091;p10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95</a:t>
            </a:fld>
            <a:endParaRPr/>
          </a:p>
        </p:txBody>
      </p:sp>
      <p:sp>
        <p:nvSpPr>
          <p:cNvPr id="1092" name="Google Shape;1092;p10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093" name="Google Shape;1093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94" name="Google Shape;1094;p106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95" name="Google Shape;1095;p106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96" name="Google Shape;1096;p106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97" name="Google Shape;1097;p106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0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With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						  </a:t>
            </a:r>
            <a:endParaRPr dirty="0"/>
          </a:p>
        </p:txBody>
      </p:sp>
      <p:sp>
        <p:nvSpPr>
          <p:cNvPr id="1103" name="Google Shape;1103;p10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104" name="Google Shape;1104;p10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96</a:t>
            </a:fld>
            <a:endParaRPr/>
          </a:p>
        </p:txBody>
      </p:sp>
      <p:sp>
        <p:nvSpPr>
          <p:cNvPr id="1105" name="Google Shape;1105;p10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106" name="Google Shape;110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7" name="Google Shape;1107;p107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08" name="Google Shape;1108;p107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09" name="Google Shape;1109;p107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10" name="Google Shape;1110;p107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0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With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				       		    </a:t>
            </a:r>
            <a:endParaRPr dirty="0"/>
          </a:p>
        </p:txBody>
      </p:sp>
      <p:sp>
        <p:nvSpPr>
          <p:cNvPr id="1116" name="Google Shape;1116;p10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117" name="Google Shape;1117;p10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97</a:t>
            </a:fld>
            <a:endParaRPr/>
          </a:p>
        </p:txBody>
      </p:sp>
      <p:sp>
        <p:nvSpPr>
          <p:cNvPr id="1118" name="Google Shape;1118;p10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119" name="Google Shape;1119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0" name="Google Shape;1120;p108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21" name="Google Shape;1121;p108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b: 1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c: 0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22" name="Google Shape;1122;p108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23" name="Google Shape;1123;p108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0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With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						     </a:t>
            </a:r>
            <a:endParaRPr dirty="0"/>
          </a:p>
        </p:txBody>
      </p:sp>
      <p:sp>
        <p:nvSpPr>
          <p:cNvPr id="1129" name="Google Shape;1129;p10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130" name="Google Shape;1130;p10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98</a:t>
            </a:fld>
            <a:endParaRPr/>
          </a:p>
        </p:txBody>
      </p:sp>
      <p:sp>
        <p:nvSpPr>
          <p:cNvPr id="1131" name="Google Shape;1131;p10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132" name="Google Shape;1132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3" name="Google Shape;1133;p109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34" name="Google Shape;1134;p109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-1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c: 0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35" name="Google Shape;1135;p109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36" name="Google Shape;1136;p109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1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With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			</a:t>
            </a:r>
            <a:endParaRPr dirty="0"/>
          </a:p>
        </p:txBody>
      </p:sp>
      <p:sp>
        <p:nvSpPr>
          <p:cNvPr id="1142" name="Google Shape;1142;p11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143" name="Google Shape;1143;p11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99</a:t>
            </a:fld>
            <a:endParaRPr/>
          </a:p>
        </p:txBody>
      </p:sp>
      <p:sp>
        <p:nvSpPr>
          <p:cNvPr id="1144" name="Google Shape;1144;p11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145" name="Google Shape;1145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6" name="Google Shape;1146;p110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47" name="Google Shape;1147;p110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a: 1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-3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-2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48" name="Google Shape;1148;p110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a: 1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49" name="Google Shape;1149;p110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1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With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				</a:t>
            </a:r>
            <a:endParaRPr dirty="0"/>
          </a:p>
        </p:txBody>
      </p:sp>
      <p:sp>
        <p:nvSpPr>
          <p:cNvPr id="1155" name="Google Shape;1155;p11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156" name="Google Shape;1156;p11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100</a:t>
            </a:fld>
            <a:endParaRPr/>
          </a:p>
        </p:txBody>
      </p:sp>
      <p:sp>
        <p:nvSpPr>
          <p:cNvPr id="1157" name="Google Shape;1157;p11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158" name="Google Shape;1158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9" name="Google Shape;1159;p111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0" name="Google Shape;1160;p111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-4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c: -2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1" name="Google Shape;1161;p111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2" name="Google Shape;1162;p111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ba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1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/>
              <a:t>With </a:t>
            </a:r>
            <a:r>
              <a:rPr lang="de-DE" sz="1800" dirty="0" err="1"/>
              <a:t>Pruning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Text: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Counts: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Gains: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New </a:t>
            </a:r>
            <a:r>
              <a:rPr lang="de-DE" dirty="0" err="1"/>
              <a:t>symbol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: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 				</a:t>
            </a:r>
            <a:endParaRPr dirty="0"/>
          </a:p>
        </p:txBody>
      </p:sp>
      <p:sp>
        <p:nvSpPr>
          <p:cNvPr id="1168" name="Google Shape;1168;p11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Contributions</a:t>
            </a:r>
            <a:endParaRPr/>
          </a:p>
        </p:txBody>
      </p:sp>
      <p:sp>
        <p:nvSpPr>
          <p:cNvPr id="1169" name="Google Shape;1169;p11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101</a:t>
            </a:fld>
            <a:endParaRPr/>
          </a:p>
        </p:txBody>
      </p:sp>
      <p:sp>
        <p:nvSpPr>
          <p:cNvPr id="1170" name="Google Shape;1170;p11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171" name="Google Shape;1171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2" name="Google Shape;1172;p112"/>
          <p:cNvGraphicFramePr/>
          <p:nvPr/>
        </p:nvGraphicFramePr>
        <p:xfrm>
          <a:off x="952500" y="2145063"/>
          <a:ext cx="7239000" cy="42669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</a:t>
                      </a:r>
                      <a:endParaRPr sz="16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3" name="Google Shape;1173;p112"/>
          <p:cNvGraphicFramePr/>
          <p:nvPr/>
        </p:nvGraphicFramePr>
        <p:xfrm>
          <a:off x="1269975" y="28134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-1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b: -4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c: </a:t>
                      </a:r>
                      <a:r>
                        <a:rPr lang="de-D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-3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4" name="Google Shape;1174;p112"/>
          <p:cNvGraphicFramePr/>
          <p:nvPr/>
        </p:nvGraphicFramePr>
        <p:xfrm>
          <a:off x="1269975" y="3359925"/>
          <a:ext cx="7239000" cy="39621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bc: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ca: 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cb: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5" name="Google Shape;1175;p112"/>
          <p:cNvGraphicFramePr/>
          <p:nvPr/>
        </p:nvGraphicFramePr>
        <p:xfrm>
          <a:off x="1982100" y="3906425"/>
          <a:ext cx="5485500" cy="441930"/>
        </p:xfrm>
        <a:graphic>
          <a:graphicData uri="http://schemas.openxmlformats.org/drawingml/2006/table">
            <a:tbl>
              <a:tblPr>
                <a:noFill/>
                <a:tableStyleId>{6D58E22B-9A1C-46A9-80C1-C3506737D24A}</a:tableStyleId>
              </a:tblPr>
              <a:tblGrid>
                <a:gridCol w="10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bc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ab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cb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ba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700"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ca</a:t>
                      </a:r>
                      <a:endParaRPr sz="1700"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1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Selected Data</a:t>
            </a:r>
            <a:br>
              <a:rPr lang="de-DE" sz="1800"/>
            </a:br>
            <a:endParaRPr/>
          </a:p>
        </p:txBody>
      </p:sp>
      <p:sp>
        <p:nvSpPr>
          <p:cNvPr id="1181" name="Google Shape;1181;p11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</a:t>
            </a:r>
            <a:endParaRPr/>
          </a:p>
        </p:txBody>
      </p:sp>
      <p:sp>
        <p:nvSpPr>
          <p:cNvPr id="1182" name="Google Shape;1182;p11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102</a:t>
            </a:fld>
            <a:endParaRPr/>
          </a:p>
        </p:txBody>
      </p:sp>
      <p:sp>
        <p:nvSpPr>
          <p:cNvPr id="1183" name="Google Shape;1183;p11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184" name="Google Shape;1184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1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Selected Data</a:t>
            </a: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92 columns: dbtext, NextiaJD, CyclicJoinBench, Clickbench, and PublicBIbenchmark</a:t>
            </a: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11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</a:t>
            </a:r>
            <a:endParaRPr/>
          </a:p>
        </p:txBody>
      </p:sp>
      <p:sp>
        <p:nvSpPr>
          <p:cNvPr id="1191" name="Google Shape;1191;p11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103</a:t>
            </a:fld>
            <a:endParaRPr/>
          </a:p>
        </p:txBody>
      </p:sp>
      <p:sp>
        <p:nvSpPr>
          <p:cNvPr id="1192" name="Google Shape;1192;p11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193" name="Google Shape;1193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1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Selected Data</a:t>
            </a: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92 columns: dbtext, NextiaJD, CyclicJoinBench, Clickbench, and PublicBIbenchmark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Tables reduced to first 100K rows</a:t>
            </a: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1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</a:t>
            </a:r>
            <a:endParaRPr/>
          </a:p>
        </p:txBody>
      </p:sp>
      <p:sp>
        <p:nvSpPr>
          <p:cNvPr id="1200" name="Google Shape;1200;p11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104</a:t>
            </a:fld>
            <a:endParaRPr/>
          </a:p>
        </p:txBody>
      </p:sp>
      <p:sp>
        <p:nvSpPr>
          <p:cNvPr id="1201" name="Google Shape;1201;p11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02" name="Google Shape;1202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1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Selected Data</a:t>
            </a: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92 columns: dbtext, NextiaJD, CyclicJoinBench, Clickbench, and PublicBIbenchmark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Tables reduced to first 100K rows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String columns having at least 1K rows and size ≤ 35MB</a:t>
            </a: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11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</a:t>
            </a:r>
            <a:endParaRPr/>
          </a:p>
        </p:txBody>
      </p:sp>
      <p:sp>
        <p:nvSpPr>
          <p:cNvPr id="1209" name="Google Shape;1209;p11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105</a:t>
            </a:fld>
            <a:endParaRPr/>
          </a:p>
        </p:txBody>
      </p:sp>
      <p:sp>
        <p:nvSpPr>
          <p:cNvPr id="1210" name="Google Shape;1210;p11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11" name="Google Shape;1211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1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Selected Data</a:t>
            </a: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92 columns: dbtext, NextiaJD, CyclicJoinBench, Clickbench, and PublicBIbenchmark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Tables reduced to first 100K rows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String columns having at least 1K rows and size ≤ 35MB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 FSST compressed size ≤ Dictionary encoding size</a:t>
            </a:r>
            <a:endParaRPr/>
          </a:p>
        </p:txBody>
      </p:sp>
      <p:sp>
        <p:nvSpPr>
          <p:cNvPr id="1217" name="Google Shape;1217;p11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</a:t>
            </a:r>
            <a:endParaRPr/>
          </a:p>
        </p:txBody>
      </p:sp>
      <p:sp>
        <p:nvSpPr>
          <p:cNvPr id="1218" name="Google Shape;1218;p11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106</a:t>
            </a:fld>
            <a:endParaRPr/>
          </a:p>
        </p:txBody>
      </p:sp>
      <p:sp>
        <p:nvSpPr>
          <p:cNvPr id="1219" name="Google Shape;1219;p11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20" name="Google Shape;1220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1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Results</a:t>
            </a:r>
            <a:br>
              <a:rPr lang="de-DE" sz="1800"/>
            </a:br>
            <a:br>
              <a:rPr lang="de-DE" sz="1800"/>
            </a:br>
            <a:endParaRPr sz="1800"/>
          </a:p>
        </p:txBody>
      </p:sp>
      <p:sp>
        <p:nvSpPr>
          <p:cNvPr id="1226" name="Google Shape;1226;p11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</a:t>
            </a:r>
            <a:endParaRPr/>
          </a:p>
        </p:txBody>
      </p:sp>
      <p:sp>
        <p:nvSpPr>
          <p:cNvPr id="1227" name="Google Shape;1227;p11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107</a:t>
            </a:fld>
            <a:endParaRPr/>
          </a:p>
        </p:txBody>
      </p:sp>
      <p:sp>
        <p:nvSpPr>
          <p:cNvPr id="1228" name="Google Shape;1228;p11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29" name="Google Shape;1229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118" title="CF_combin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1950" y="830550"/>
            <a:ext cx="4643198" cy="348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118" title="cf_fss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1950" y="830550"/>
            <a:ext cx="4643198" cy="348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1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Results</a:t>
            </a:r>
            <a:br>
              <a:rPr lang="de-DE" sz="1800"/>
            </a:br>
            <a:br>
              <a:rPr lang="de-DE" sz="1800"/>
            </a:br>
            <a:endParaRPr sz="1800"/>
          </a:p>
        </p:txBody>
      </p:sp>
      <p:sp>
        <p:nvSpPr>
          <p:cNvPr id="1237" name="Google Shape;1237;p11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</a:t>
            </a:r>
            <a:endParaRPr/>
          </a:p>
        </p:txBody>
      </p:sp>
      <p:sp>
        <p:nvSpPr>
          <p:cNvPr id="1238" name="Google Shape;1238;p11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108</a:t>
            </a:fld>
            <a:endParaRPr/>
          </a:p>
        </p:txBody>
      </p:sp>
      <p:sp>
        <p:nvSpPr>
          <p:cNvPr id="1239" name="Google Shape;1239;p11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40" name="Google Shape;1240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119" title="Time_combin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1950" y="830554"/>
            <a:ext cx="4643195" cy="348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119" title="time_fss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1950" y="830550"/>
            <a:ext cx="4643198" cy="348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20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Results</a:t>
            </a:r>
            <a:br>
              <a:rPr lang="de-DE" sz="1800"/>
            </a:br>
            <a:br>
              <a:rPr lang="de-DE" sz="1800"/>
            </a:br>
            <a:endParaRPr sz="1800"/>
          </a:p>
        </p:txBody>
      </p:sp>
      <p:sp>
        <p:nvSpPr>
          <p:cNvPr id="1248" name="Google Shape;1248;p12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</a:t>
            </a:r>
            <a:endParaRPr/>
          </a:p>
        </p:txBody>
      </p:sp>
      <p:sp>
        <p:nvSpPr>
          <p:cNvPr id="1249" name="Google Shape;1249;p12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109</a:t>
            </a:fld>
            <a:endParaRPr/>
          </a:p>
        </p:txBody>
      </p:sp>
      <p:sp>
        <p:nvSpPr>
          <p:cNvPr id="1250" name="Google Shape;1250;p12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51" name="Google Shape;1251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120" title="di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1950" y="826275"/>
            <a:ext cx="4643200" cy="34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120" title="dic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9963" y="860225"/>
            <a:ext cx="4564076" cy="342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120" title="dict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51950" y="826275"/>
            <a:ext cx="4602101" cy="3451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255" name="Google Shape;1255;p120"/>
          <p:cNvSpPr/>
          <p:nvPr/>
        </p:nvSpPr>
        <p:spPr>
          <a:xfrm>
            <a:off x="4723550" y="939425"/>
            <a:ext cx="2052000" cy="259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21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Results</a:t>
            </a:r>
            <a:br>
              <a:rPr lang="de-DE" sz="1800"/>
            </a:br>
            <a:br>
              <a:rPr lang="de-DE" sz="1800"/>
            </a:br>
            <a:endParaRPr sz="1800"/>
          </a:p>
        </p:txBody>
      </p:sp>
      <p:sp>
        <p:nvSpPr>
          <p:cNvPr id="1261" name="Google Shape;1261;p12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</a:t>
            </a:r>
            <a:endParaRPr/>
          </a:p>
        </p:txBody>
      </p:sp>
      <p:sp>
        <p:nvSpPr>
          <p:cNvPr id="1262" name="Google Shape;1262;p12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110</a:t>
            </a:fld>
            <a:endParaRPr/>
          </a:p>
        </p:txBody>
      </p:sp>
      <p:sp>
        <p:nvSpPr>
          <p:cNvPr id="1263" name="Google Shape;1263;p12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64" name="Google Shape;1264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121" title="di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1950" y="826275"/>
            <a:ext cx="4643200" cy="34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121" title="dic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9963" y="860225"/>
            <a:ext cx="4564076" cy="342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121" title="dict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51950" y="826275"/>
            <a:ext cx="4602101" cy="3451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22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Summary</a:t>
            </a:r>
            <a:br>
              <a:rPr lang="de-DE" sz="1800"/>
            </a:b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12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1274" name="Google Shape;1274;p12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111</a:t>
            </a:fld>
            <a:endParaRPr/>
          </a:p>
        </p:txBody>
      </p:sp>
      <p:sp>
        <p:nvSpPr>
          <p:cNvPr id="1275" name="Google Shape;1275;p12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76" name="Google Shape;1276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23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Summary</a:t>
            </a:r>
            <a:br>
              <a:rPr lang="de-DE" sz="1800"/>
            </a:b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Reduced greedy aspect of symbol table construction</a:t>
            </a: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12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1283" name="Google Shape;1283;p12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112</a:t>
            </a:fld>
            <a:endParaRPr/>
          </a:p>
        </p:txBody>
      </p:sp>
      <p:sp>
        <p:nvSpPr>
          <p:cNvPr id="1284" name="Google Shape;1284;p12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85" name="Google Shape;1285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124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Summary</a:t>
            </a:r>
            <a:br>
              <a:rPr lang="de-DE" sz="1800"/>
            </a:b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Reduced greedy aspect of symbol table construction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Overall better compression</a:t>
            </a: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12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1292" name="Google Shape;1292;p12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113</a:t>
            </a:fld>
            <a:endParaRPr/>
          </a:p>
        </p:txBody>
      </p:sp>
      <p:sp>
        <p:nvSpPr>
          <p:cNvPr id="1293" name="Google Shape;1293;p12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294" name="Google Shape;1294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25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Summary</a:t>
            </a:r>
            <a:br>
              <a:rPr lang="de-DE" sz="1800"/>
            </a:br>
            <a:endParaRPr sz="180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Reduced greedy aspect of symbol table construction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Overall better compression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Runtime overhead </a:t>
            </a:r>
            <a:endParaRPr/>
          </a:p>
        </p:txBody>
      </p:sp>
      <p:sp>
        <p:nvSpPr>
          <p:cNvPr id="1300" name="Google Shape;1300;p12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1301" name="Google Shape;1301;p12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114</a:t>
            </a:fld>
            <a:endParaRPr/>
          </a:p>
        </p:txBody>
      </p:sp>
      <p:sp>
        <p:nvSpPr>
          <p:cNvPr id="1302" name="Google Shape;1302;p12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303" name="Google Shape;1303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26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Areas of improvement</a:t>
            </a:r>
            <a:br>
              <a:rPr lang="de-DE" sz="1800"/>
            </a:br>
            <a:br>
              <a:rPr lang="de-DE" sz="1800"/>
            </a:br>
            <a:br>
              <a:rPr lang="de-DE" sz="1800"/>
            </a:br>
            <a:endParaRPr sz="1800"/>
          </a:p>
        </p:txBody>
      </p:sp>
      <p:sp>
        <p:nvSpPr>
          <p:cNvPr id="1309" name="Google Shape;1309;p12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1310" name="Google Shape;1310;p12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115</a:t>
            </a:fld>
            <a:endParaRPr/>
          </a:p>
        </p:txBody>
      </p:sp>
      <p:sp>
        <p:nvSpPr>
          <p:cNvPr id="1311" name="Google Shape;1311;p12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312" name="Google Shape;1312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127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Areas of improvement</a:t>
            </a:r>
            <a:br>
              <a:rPr lang="de-DE" sz="1800"/>
            </a:b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Runtime improvement (especially DP encoding): hybrid approach?</a:t>
            </a: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 sz="1800"/>
            </a:br>
            <a:endParaRPr sz="1800"/>
          </a:p>
        </p:txBody>
      </p:sp>
      <p:sp>
        <p:nvSpPr>
          <p:cNvPr id="1318" name="Google Shape;1318;p12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1319" name="Google Shape;1319;p12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116</a:t>
            </a:fld>
            <a:endParaRPr/>
          </a:p>
        </p:txBody>
      </p:sp>
      <p:sp>
        <p:nvSpPr>
          <p:cNvPr id="1320" name="Google Shape;1320;p12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321" name="Google Shape;1321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28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Areas of improvement</a:t>
            </a:r>
            <a:br>
              <a:rPr lang="de-DE" sz="1800"/>
            </a:b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Runtime improvement (especially DP encoding): hybrid approach?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Pruning optimization </a:t>
            </a:r>
            <a:br>
              <a:rPr lang="de-DE"/>
            </a:br>
            <a:endParaRPr/>
          </a:p>
          <a:p>
            <a:pPr marL="4572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 sz="1800"/>
            </a:br>
            <a:endParaRPr sz="1800"/>
          </a:p>
        </p:txBody>
      </p:sp>
      <p:sp>
        <p:nvSpPr>
          <p:cNvPr id="1327" name="Google Shape;1327;p12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1328" name="Google Shape;1328;p12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117</a:t>
            </a:fld>
            <a:endParaRPr/>
          </a:p>
        </p:txBody>
      </p:sp>
      <p:sp>
        <p:nvSpPr>
          <p:cNvPr id="1329" name="Google Shape;1329;p12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330" name="Google Shape;1330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129"/>
          <p:cNvSpPr txBox="1">
            <a:spLocks noGrp="1"/>
          </p:cNvSpPr>
          <p:nvPr>
            <p:ph type="body" idx="1"/>
          </p:nvPr>
        </p:nvSpPr>
        <p:spPr>
          <a:xfrm>
            <a:off x="319090" y="160020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/>
              <a:t>Areas of improvement</a:t>
            </a:r>
            <a:br>
              <a:rPr lang="de-DE" sz="1800"/>
            </a:br>
            <a:br>
              <a:rPr lang="de-DE" sz="1800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Runtime improvement (especially DP encoding): hybrid approach?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Pruning optimization </a:t>
            </a:r>
            <a:br>
              <a:rPr lang="de-DE"/>
            </a:br>
            <a:endParaRPr/>
          </a:p>
          <a:p>
            <a:pPr marL="457200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Global improvements across all generations instead of local improvements </a:t>
            </a:r>
            <a:br>
              <a:rPr lang="de-DE" sz="1800"/>
            </a:br>
            <a:endParaRPr sz="1800"/>
          </a:p>
        </p:txBody>
      </p:sp>
      <p:sp>
        <p:nvSpPr>
          <p:cNvPr id="1336" name="Google Shape;1336;p12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1337" name="Google Shape;1337;p12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118</a:t>
            </a:fld>
            <a:endParaRPr/>
          </a:p>
        </p:txBody>
      </p:sp>
      <p:sp>
        <p:nvSpPr>
          <p:cNvPr id="1338" name="Google Shape;1338;p12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339" name="Google Shape;1339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13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119</a:t>
            </a:fld>
            <a:endParaRPr/>
          </a:p>
        </p:txBody>
      </p:sp>
      <p:sp>
        <p:nvSpPr>
          <p:cNvPr id="1345" name="Google Shape;1345;p13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346" name="Google Shape;1346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130" title="PwXh9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4425" y="944178"/>
            <a:ext cx="3255148" cy="32551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30"/>
          <p:cNvSpPr txBox="1"/>
          <p:nvPr/>
        </p:nvSpPr>
        <p:spPr>
          <a:xfrm>
            <a:off x="2986350" y="4316100"/>
            <a:ext cx="31713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https://github.com/Hedi-Chehaidar/btrfsst</a:t>
            </a:r>
            <a:endParaRPr sz="12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131"/>
          <p:cNvSpPr txBox="1">
            <a:spLocks noGrp="1"/>
          </p:cNvSpPr>
          <p:nvPr>
            <p:ph type="body" idx="1"/>
          </p:nvPr>
        </p:nvSpPr>
        <p:spPr>
          <a:xfrm>
            <a:off x="154915" y="1881150"/>
            <a:ext cx="8508900" cy="30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000"/>
              <a:t>Thank You</a:t>
            </a:r>
            <a:endParaRPr sz="6000"/>
          </a:p>
        </p:txBody>
      </p:sp>
      <p:sp>
        <p:nvSpPr>
          <p:cNvPr id="1354" name="Google Shape;1354;p13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120</a:t>
            </a:fld>
            <a:endParaRPr/>
          </a:p>
        </p:txBody>
      </p:sp>
      <p:sp>
        <p:nvSpPr>
          <p:cNvPr id="1355" name="Google Shape;1355;p13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Hedi Chehaidar | Improved Symbol Table Construction for FSST Compression</a:t>
            </a:r>
            <a:endParaRPr/>
          </a:p>
        </p:txBody>
      </p:sp>
      <p:pic>
        <p:nvPicPr>
          <p:cNvPr id="1356" name="Google Shape;1356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475" y="333850"/>
            <a:ext cx="1649550" cy="3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halt">
  <a:themeElements>
    <a:clrScheme name="TUM">
      <a:dk1>
        <a:srgbClr val="000000"/>
      </a:dk1>
      <a:lt1>
        <a:srgbClr val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5064</Words>
  <Application>Microsoft Office PowerPoint</Application>
  <PresentationFormat>Bildschirmpräsentation (16:9)</PresentationFormat>
  <Paragraphs>2272</Paragraphs>
  <Slides>120</Slides>
  <Notes>120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120</vt:i4>
      </vt:variant>
    </vt:vector>
  </HeadingPairs>
  <TitlesOfParts>
    <vt:vector size="130" baseType="lpstr">
      <vt:lpstr>Roboto Mono SemiBold</vt:lpstr>
      <vt:lpstr>Roboto</vt:lpstr>
      <vt:lpstr>Roboto Mono Medium</vt:lpstr>
      <vt:lpstr>Arial</vt:lpstr>
      <vt:lpstr>Roboto Mono</vt:lpstr>
      <vt:lpstr>Roboto SemiBold</vt:lpstr>
      <vt:lpstr>Calibri</vt:lpstr>
      <vt:lpstr>Noto Sans Symbols</vt:lpstr>
      <vt:lpstr>Titel 1</vt:lpstr>
      <vt:lpstr>Inhalt</vt:lpstr>
      <vt:lpstr>Improved Symbol Table Construction for FSST Compression</vt:lpstr>
      <vt:lpstr>Motivation</vt:lpstr>
      <vt:lpstr>Motivation</vt:lpstr>
      <vt:lpstr>Motivation</vt:lpstr>
      <vt:lpstr>Motivation</vt:lpstr>
      <vt:lpstr>Contents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</vt:lpstr>
      <vt:lpstr>Fast Static Symbol Table </vt:lpstr>
      <vt:lpstr>Fast Static Symbol Table </vt:lpstr>
      <vt:lpstr>Fast Static Symbol Table </vt:lpstr>
      <vt:lpstr>Fast Static Symbol Table 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Contributions</vt:lpstr>
      <vt:lpstr>Benchmarks</vt:lpstr>
      <vt:lpstr>Benchmarks</vt:lpstr>
      <vt:lpstr>Benchmarks</vt:lpstr>
      <vt:lpstr>Benchmarks</vt:lpstr>
      <vt:lpstr>Benchmarks</vt:lpstr>
      <vt:lpstr>Benchmarks</vt:lpstr>
      <vt:lpstr>Benchmarks</vt:lpstr>
      <vt:lpstr>Benchmarks</vt:lpstr>
      <vt:lpstr>Benchmarks</vt:lpstr>
      <vt:lpstr>Conclusion</vt:lpstr>
      <vt:lpstr>Conclusion</vt:lpstr>
      <vt:lpstr>Conclusion</vt:lpstr>
      <vt:lpstr>Conclusion</vt:lpstr>
      <vt:lpstr>Conclusion</vt:lpstr>
      <vt:lpstr>Conclusion</vt:lpstr>
      <vt:lpstr>Conclusion</vt:lpstr>
      <vt:lpstr>Conclusion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Hedi Chehaidar</cp:lastModifiedBy>
  <cp:revision>3</cp:revision>
  <dcterms:modified xsi:type="dcterms:W3CDTF">2026-02-11T20:51:38Z</dcterms:modified>
</cp:coreProperties>
</file>